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92" r:id="rId2"/>
    <p:sldId id="293" r:id="rId3"/>
    <p:sldId id="276" r:id="rId4"/>
    <p:sldId id="277" r:id="rId5"/>
    <p:sldId id="257" r:id="rId6"/>
    <p:sldId id="258" r:id="rId7"/>
    <p:sldId id="259" r:id="rId8"/>
    <p:sldId id="260" r:id="rId9"/>
    <p:sldId id="261" r:id="rId10"/>
    <p:sldId id="262" r:id="rId11"/>
    <p:sldId id="263" r:id="rId12"/>
    <p:sldId id="264" r:id="rId13"/>
    <p:sldId id="266" r:id="rId14"/>
    <p:sldId id="28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ittu\AppData\Local\Packages\5319275A.WhatsAppDesktop_cv1g1gvanyjgm\LocalState\sessions\3243FD35363FA1FA78341FE5D79D06B06686985D\transfers\2026-14\College2_Dum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ittu\AppData\Local\Packages\5319275A.WhatsAppDesktop_cv1g1gvanyjgm\LocalState\sessions\3243FD35363FA1FA78341FE5D79D06B06686985D\transfers\2026-14\College2_Dump.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ittu\AppData\Local\Packages\5319275A.WhatsAppDesktop_cv1g1gvanyjgm\LocalState\sessions\3243FD35363FA1FA78341FE5D79D06B06686985D\transfers\2026-14\College2_Dum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ittu\AppData\Local\Packages\5319275A.WhatsAppDesktop_cv1g1gvanyjgm\LocalState\sessions\3243FD35363FA1FA78341FE5D79D06B06686985D\transfers\2026-14\College2_Dump.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[Dump_Analysis_2.xlsx]Executive Overview!PivotTable14</c:name>
    <c:fmtId val="8"/>
  </c:pivotSource>
  <c:chart>
    <c:autoTitleDeleted val="1"/>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'Executive Overview'!$C$41</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'Executive Overview'!$B$42:$B$51</c:f>
              <c:strCache>
                <c:ptCount val="9"/>
                <c:pt idx="0">
                  <c:v>Faridabad</c:v>
                </c:pt>
                <c:pt idx="1">
                  <c:v>Ghaziabad</c:v>
                </c:pt>
                <c:pt idx="2">
                  <c:v>East Delhi</c:v>
                </c:pt>
                <c:pt idx="3">
                  <c:v>Agra</c:v>
                </c:pt>
                <c:pt idx="4">
                  <c:v>Patna</c:v>
                </c:pt>
                <c:pt idx="5">
                  <c:v>Ranchi</c:v>
                </c:pt>
                <c:pt idx="6">
                  <c:v>Greater Noida</c:v>
                </c:pt>
                <c:pt idx="7">
                  <c:v>Noida</c:v>
                </c:pt>
                <c:pt idx="8">
                  <c:v>New Delhi</c:v>
                </c:pt>
              </c:strCache>
            </c:strRef>
          </c:cat>
          <c:val>
            <c:numRef>
              <c:f>'Executive Overview'!$C$42:$C$51</c:f>
              <c:numCache>
                <c:formatCode>General</c:formatCode>
                <c:ptCount val="9"/>
                <c:pt idx="0">
                  <c:v>2</c:v>
                </c:pt>
                <c:pt idx="1">
                  <c:v>2</c:v>
                </c:pt>
                <c:pt idx="2">
                  <c:v>2</c:v>
                </c:pt>
                <c:pt idx="3">
                  <c:v>2</c:v>
                </c:pt>
                <c:pt idx="4">
                  <c:v>2</c:v>
                </c:pt>
                <c:pt idx="5">
                  <c:v>3</c:v>
                </c:pt>
                <c:pt idx="6">
                  <c:v>6</c:v>
                </c:pt>
                <c:pt idx="7">
                  <c:v>9</c:v>
                </c:pt>
                <c:pt idx="8">
                  <c:v>13</c:v>
                </c:pt>
              </c:numCache>
            </c:numRef>
          </c:val>
          <c:extLst>
            <c:ext xmlns:c16="http://schemas.microsoft.com/office/drawing/2014/chart" uri="{C3380CC4-5D6E-409C-BE32-E72D297353CC}">
              <c16:uniqueId val="{00000000-56E3-482D-900B-988D791C76CB}"/>
            </c:ext>
          </c:extLst>
        </c:ser>
        <c:dLbls>
          <c:dLblPos val="outEnd"/>
          <c:showLegendKey val="0"/>
          <c:showVal val="1"/>
          <c:showCatName val="0"/>
          <c:showSerName val="0"/>
          <c:showPercent val="0"/>
          <c:showBubbleSize val="0"/>
        </c:dLbls>
        <c:gapWidth val="182"/>
        <c:axId val="1532777599"/>
        <c:axId val="1532781439"/>
      </c:barChart>
      <c:catAx>
        <c:axId val="15327775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532781439"/>
        <c:crosses val="autoZero"/>
        <c:auto val="1"/>
        <c:lblAlgn val="ctr"/>
        <c:lblOffset val="100"/>
        <c:noMultiLvlLbl val="0"/>
      </c:catAx>
      <c:valAx>
        <c:axId val="1532781439"/>
        <c:scaling>
          <c:orientation val="minMax"/>
        </c:scaling>
        <c:delete val="1"/>
        <c:axPos val="b"/>
        <c:numFmt formatCode="General" sourceLinked="1"/>
        <c:majorTickMark val="none"/>
        <c:minorTickMark val="none"/>
        <c:tickLblPos val="nextTo"/>
        <c:crossAx val="1532777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[Dump_Analysis_2.xlsx]Executive Overview!PivotTable13</c:name>
    <c:fmtId val="9"/>
  </c:pivotSource>
  <c:chart>
    <c:autoTitleDeleted val="1"/>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'Executive Overview'!$C$25</c:f>
              <c:strCache>
                <c:ptCount val="1"/>
                <c:pt idx="0">
                  <c:v>Total</c:v>
                </c:pt>
              </c:strCache>
            </c:strRef>
          </c:tx>
          <c:spPr>
            <a:solidFill>
              <a:schemeClr val="accent2"/>
            </a:solidFill>
            <a:ln>
              <a:noFill/>
            </a:ln>
            <a:effectLst/>
          </c:spPr>
          <c:invertIfNegative val="0"/>
          <c:dLbls>
            <c:dLbl>
              <c:idx val="0"/>
              <c:layout>
                <c:manualLayout>
                  <c:x val="3.757645328502502E-2"/>
                  <c:y val="-4.299965600275197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240-40FF-A1B1-53A84D86B5B4}"/>
                </c:ext>
              </c:extLst>
            </c:dLbl>
            <c:dLbl>
              <c:idx val="1"/>
              <c:layout>
                <c:manualLayout>
                  <c:x val="4.0107458093934158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240-40FF-A1B1-53A84D86B5B4}"/>
                </c:ext>
              </c:extLst>
            </c:dLbl>
            <c:dLbl>
              <c:idx val="2"/>
              <c:layout>
                <c:manualLayout>
                  <c:x val="4.2638462902843295E-2"/>
                  <c:y val="4.299965600275197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240-40FF-A1B1-53A84D86B5B4}"/>
                </c:ext>
              </c:extLst>
            </c:dLbl>
            <c:dLbl>
              <c:idx val="3"/>
              <c:layout>
                <c:manualLayout>
                  <c:x val="4.2638462902843295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240-40FF-A1B1-53A84D86B5B4}"/>
                </c:ext>
              </c:extLst>
            </c:dLbl>
            <c:dLbl>
              <c:idx val="4"/>
              <c:layout>
                <c:manualLayout>
                  <c:x val="6.3206364580281629E-2"/>
                  <c:y val="-4.2999656002752767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240-40FF-A1B1-53A84D86B5B4}"/>
                </c:ext>
              </c:extLst>
            </c:dLbl>
            <c:dLbl>
              <c:idx val="5"/>
              <c:layout>
                <c:manualLayout>
                  <c:x val="6.6057431887073345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240-40FF-A1B1-53A84D86B5B4}"/>
                </c:ext>
              </c:extLst>
            </c:dLbl>
            <c:dLbl>
              <c:idx val="6"/>
              <c:layout>
                <c:manualLayout>
                  <c:x val="8.9156338373420907E-2"/>
                  <c:y val="-3.9415896000061897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240-40FF-A1B1-53A84D86B5B4}"/>
                </c:ext>
              </c:extLst>
            </c:dLbl>
            <c:dLbl>
              <c:idx val="7"/>
              <c:layout>
                <c:manualLayout>
                  <c:x val="0.33654332502286866"/>
                  <c:y val="4.299965600275177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40-40FF-A1B1-53A84D86B5B4}"/>
                </c:ext>
              </c:extLst>
            </c:dLbl>
            <c:dLbl>
              <c:idx val="8"/>
              <c:layout>
                <c:manualLayout>
                  <c:x val="0.38306120049344627"/>
                  <c:y val="1.28998968008255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240-40FF-A1B1-53A84D86B5B4}"/>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'Executive Overview'!$B$26:$B$35</c:f>
              <c:strCache>
                <c:ptCount val="9"/>
                <c:pt idx="0">
                  <c:v>Andhra Pradesh</c:v>
                </c:pt>
                <c:pt idx="1">
                  <c:v>Rajasthan</c:v>
                </c:pt>
                <c:pt idx="2">
                  <c:v>Madhya Pradesh</c:v>
                </c:pt>
                <c:pt idx="3">
                  <c:v>Punjab</c:v>
                </c:pt>
                <c:pt idx="4">
                  <c:v>Bihar</c:v>
                </c:pt>
                <c:pt idx="5">
                  <c:v>Jharkhand</c:v>
                </c:pt>
                <c:pt idx="6">
                  <c:v>Haryana</c:v>
                </c:pt>
                <c:pt idx="7">
                  <c:v>Delhi</c:v>
                </c:pt>
                <c:pt idx="8">
                  <c:v>Uttar Pradesh</c:v>
                </c:pt>
              </c:strCache>
            </c:strRef>
          </c:cat>
          <c:val>
            <c:numRef>
              <c:f>'Executive Overview'!$C$26:$C$35</c:f>
              <c:numCache>
                <c:formatCode>General</c:formatCode>
                <c:ptCount val="9"/>
                <c:pt idx="0">
                  <c:v>1</c:v>
                </c:pt>
                <c:pt idx="1">
                  <c:v>1</c:v>
                </c:pt>
                <c:pt idx="2">
                  <c:v>1</c:v>
                </c:pt>
                <c:pt idx="3">
                  <c:v>1</c:v>
                </c:pt>
                <c:pt idx="4">
                  <c:v>2</c:v>
                </c:pt>
                <c:pt idx="5">
                  <c:v>3</c:v>
                </c:pt>
                <c:pt idx="6">
                  <c:v>4</c:v>
                </c:pt>
                <c:pt idx="7">
                  <c:v>20</c:v>
                </c:pt>
                <c:pt idx="8">
                  <c:v>23</c:v>
                </c:pt>
              </c:numCache>
            </c:numRef>
          </c:val>
          <c:extLst>
            <c:ext xmlns:c16="http://schemas.microsoft.com/office/drawing/2014/chart" uri="{C3380CC4-5D6E-409C-BE32-E72D297353CC}">
              <c16:uniqueId val="{00000000-4240-40FF-A1B1-53A84D86B5B4}"/>
            </c:ext>
          </c:extLst>
        </c:ser>
        <c:dLbls>
          <c:dLblPos val="ctr"/>
          <c:showLegendKey val="0"/>
          <c:showVal val="1"/>
          <c:showCatName val="0"/>
          <c:showSerName val="0"/>
          <c:showPercent val="0"/>
          <c:showBubbleSize val="0"/>
        </c:dLbls>
        <c:gapWidth val="70"/>
        <c:overlap val="100"/>
        <c:axId val="1177022911"/>
        <c:axId val="1177023391"/>
      </c:barChart>
      <c:catAx>
        <c:axId val="117702291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177023391"/>
        <c:crosses val="autoZero"/>
        <c:auto val="1"/>
        <c:lblAlgn val="ctr"/>
        <c:lblOffset val="100"/>
        <c:noMultiLvlLbl val="0"/>
      </c:catAx>
      <c:valAx>
        <c:axId val="1177023391"/>
        <c:scaling>
          <c:orientation val="minMax"/>
        </c:scaling>
        <c:delete val="1"/>
        <c:axPos val="b"/>
        <c:numFmt formatCode="General" sourceLinked="1"/>
        <c:majorTickMark val="none"/>
        <c:minorTickMark val="none"/>
        <c:tickLblPos val="nextTo"/>
        <c:crossAx val="11770229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[Dump_Analysis_2.xlsx]Course Demand Analysis!PivotTable4</c:name>
    <c:fmtId val="7"/>
  </c:pivotSource>
  <c:chart>
    <c:autoTitleDeleted val="1"/>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'Course Demand Analysis'!$C$5</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'Course Demand Analysis'!$B$6:$B$16</c:f>
              <c:strCache>
                <c:ptCount val="10"/>
                <c:pt idx="0">
                  <c:v>B.Design</c:v>
                </c:pt>
                <c:pt idx="1">
                  <c:v>B.Tech Artificial Intelligence</c:v>
                </c:pt>
                <c:pt idx="2">
                  <c:v>B.Tech Electronics &amp; Communication Engineering</c:v>
                </c:pt>
                <c:pt idx="3">
                  <c:v>BTECH AI</c:v>
                </c:pt>
                <c:pt idx="4">
                  <c:v>PG Diploma in Computer Applications</c:v>
                </c:pt>
                <c:pt idx="5">
                  <c:v>MBA</c:v>
                </c:pt>
                <c:pt idx="6">
                  <c:v>Integ. B.Tech and M.Tech Biotechnology</c:v>
                </c:pt>
                <c:pt idx="7">
                  <c:v>B.Tech Biotechnology</c:v>
                </c:pt>
                <c:pt idx="8">
                  <c:v>BBA</c:v>
                </c:pt>
                <c:pt idx="9">
                  <c:v>B.Tech CSE</c:v>
                </c:pt>
              </c:strCache>
            </c:strRef>
          </c:cat>
          <c:val>
            <c:numRef>
              <c:f>'Course Demand Analysis'!$C$6:$C$16</c:f>
              <c:numCache>
                <c:formatCode>General</c:formatCode>
                <c:ptCount val="10"/>
                <c:pt idx="0">
                  <c:v>1</c:v>
                </c:pt>
                <c:pt idx="1">
                  <c:v>1</c:v>
                </c:pt>
                <c:pt idx="2">
                  <c:v>2</c:v>
                </c:pt>
                <c:pt idx="3">
                  <c:v>2</c:v>
                </c:pt>
                <c:pt idx="4">
                  <c:v>2</c:v>
                </c:pt>
                <c:pt idx="5">
                  <c:v>2</c:v>
                </c:pt>
                <c:pt idx="6">
                  <c:v>2</c:v>
                </c:pt>
                <c:pt idx="7">
                  <c:v>4</c:v>
                </c:pt>
                <c:pt idx="8">
                  <c:v>5</c:v>
                </c:pt>
                <c:pt idx="9">
                  <c:v>25</c:v>
                </c:pt>
              </c:numCache>
            </c:numRef>
          </c:val>
          <c:extLst>
            <c:ext xmlns:c16="http://schemas.microsoft.com/office/drawing/2014/chart" uri="{C3380CC4-5D6E-409C-BE32-E72D297353CC}">
              <c16:uniqueId val="{00000000-8629-4F0C-AC85-407747A4DFD9}"/>
            </c:ext>
          </c:extLst>
        </c:ser>
        <c:dLbls>
          <c:dLblPos val="outEnd"/>
          <c:showLegendKey val="0"/>
          <c:showVal val="1"/>
          <c:showCatName val="0"/>
          <c:showSerName val="0"/>
          <c:showPercent val="0"/>
          <c:showBubbleSize val="0"/>
        </c:dLbls>
        <c:gapWidth val="182"/>
        <c:axId val="1905039776"/>
        <c:axId val="1905056576"/>
      </c:barChart>
      <c:catAx>
        <c:axId val="19050397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905056576"/>
        <c:crosses val="autoZero"/>
        <c:auto val="1"/>
        <c:lblAlgn val="ctr"/>
        <c:lblOffset val="100"/>
        <c:noMultiLvlLbl val="0"/>
      </c:catAx>
      <c:valAx>
        <c:axId val="1905056576"/>
        <c:scaling>
          <c:orientation val="minMax"/>
        </c:scaling>
        <c:delete val="1"/>
        <c:axPos val="b"/>
        <c:numFmt formatCode="General" sourceLinked="1"/>
        <c:majorTickMark val="none"/>
        <c:minorTickMark val="none"/>
        <c:tickLblPos val="nextTo"/>
        <c:crossAx val="1905039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[Dump_Analysis_2.xlsx]Monthly Trend!PivotTable2</c:name>
    <c:fmtId val="11"/>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'Monthly Trend'!$C$4</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'Monthly Trend'!$B$5:$B$16</c:f>
              <c:strCache>
                <c:ptCount val="11"/>
                <c:pt idx="0">
                  <c:v>September</c:v>
                </c:pt>
                <c:pt idx="1">
                  <c:v>October</c:v>
                </c:pt>
                <c:pt idx="2">
                  <c:v>February</c:v>
                </c:pt>
                <c:pt idx="3">
                  <c:v>January</c:v>
                </c:pt>
                <c:pt idx="4">
                  <c:v>March</c:v>
                </c:pt>
                <c:pt idx="5">
                  <c:v>April</c:v>
                </c:pt>
                <c:pt idx="6">
                  <c:v>November</c:v>
                </c:pt>
                <c:pt idx="7">
                  <c:v>July</c:v>
                </c:pt>
                <c:pt idx="8">
                  <c:v>August</c:v>
                </c:pt>
                <c:pt idx="9">
                  <c:v>May</c:v>
                </c:pt>
                <c:pt idx="10">
                  <c:v>June</c:v>
                </c:pt>
              </c:strCache>
            </c:strRef>
          </c:cat>
          <c:val>
            <c:numRef>
              <c:f>'Monthly Trend'!$C$5:$C$16</c:f>
              <c:numCache>
                <c:formatCode>General</c:formatCode>
                <c:ptCount val="11"/>
                <c:pt idx="0">
                  <c:v>1</c:v>
                </c:pt>
                <c:pt idx="1">
                  <c:v>1</c:v>
                </c:pt>
                <c:pt idx="2">
                  <c:v>1</c:v>
                </c:pt>
                <c:pt idx="3">
                  <c:v>1</c:v>
                </c:pt>
                <c:pt idx="4">
                  <c:v>2</c:v>
                </c:pt>
                <c:pt idx="5">
                  <c:v>3</c:v>
                </c:pt>
                <c:pt idx="6">
                  <c:v>5</c:v>
                </c:pt>
                <c:pt idx="7">
                  <c:v>10</c:v>
                </c:pt>
                <c:pt idx="8">
                  <c:v>10</c:v>
                </c:pt>
                <c:pt idx="9">
                  <c:v>10</c:v>
                </c:pt>
                <c:pt idx="10">
                  <c:v>12</c:v>
                </c:pt>
              </c:numCache>
            </c:numRef>
          </c:val>
          <c:smooth val="0"/>
          <c:extLst>
            <c:ext xmlns:c16="http://schemas.microsoft.com/office/drawing/2014/chart" uri="{C3380CC4-5D6E-409C-BE32-E72D297353CC}">
              <c16:uniqueId val="{00000000-A41B-471F-8078-F605C59AA9F1}"/>
            </c:ext>
          </c:extLst>
        </c:ser>
        <c:dLbls>
          <c:dLblPos val="t"/>
          <c:showLegendKey val="0"/>
          <c:showVal val="1"/>
          <c:showCatName val="0"/>
          <c:showSerName val="0"/>
          <c:showPercent val="0"/>
          <c:showBubbleSize val="0"/>
        </c:dLbls>
        <c:smooth val="0"/>
        <c:axId val="919389120"/>
        <c:axId val="919390560"/>
      </c:lineChart>
      <c:catAx>
        <c:axId val="91938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919390560"/>
        <c:crosses val="autoZero"/>
        <c:auto val="1"/>
        <c:lblAlgn val="ctr"/>
        <c:lblOffset val="100"/>
        <c:noMultiLvlLbl val="0"/>
      </c:catAx>
      <c:valAx>
        <c:axId val="919390560"/>
        <c:scaling>
          <c:orientation val="minMax"/>
        </c:scaling>
        <c:delete val="1"/>
        <c:axPos val="l"/>
        <c:numFmt formatCode="General" sourceLinked="1"/>
        <c:majorTickMark val="none"/>
        <c:minorTickMark val="none"/>
        <c:tickLblPos val="nextTo"/>
        <c:crossAx val="9193891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9050" cap="flat" cmpd="sng" algn="ctr">
      <a:solidFill>
        <a:schemeClr val="dk1"/>
      </a:solidFill>
      <a:prstDash val="solid"/>
      <a:miter lim="800000"/>
    </a:ln>
    <a:effectLst/>
  </c:spPr>
  <c:txPr>
    <a:bodyPr/>
    <a:lstStyle/>
    <a:p>
      <a:pPr>
        <a:defRPr b="1">
          <a:solidFill>
            <a:sysClr val="windowText" lastClr="000000"/>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937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2FBFE-C173-89F1-7520-024308DEE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DF799-3D64-3278-652E-3DD6B5B82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CC166-50A0-5FF9-ADA5-E1C908DDB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7A0F75-0F36-7A32-1502-FDFF8DF1AB4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07522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13573" y="1490195"/>
            <a:ext cx="3943345" cy="154308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31754" y="3129063"/>
            <a:ext cx="0" cy="570216"/>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201025" y="3129063"/>
            <a:ext cx="1177959" cy="570216"/>
          </a:xfrm>
          <a:prstGeom prst="rect">
            <a:avLst/>
          </a:prstGeom>
        </p:spPr>
        <p:txBody>
          <a:bodyPr>
            <a:noAutofit/>
          </a:bodyPr>
          <a:lstStyle>
            <a:lvl1pPr marL="0" indent="0">
              <a:lnSpc>
                <a:spcPct val="100000"/>
              </a:lnSpc>
              <a:buNone/>
              <a:defRPr sz="1350" b="0">
                <a:solidFill>
                  <a:schemeClr val="accent6"/>
                </a:solidFill>
              </a:defRPr>
            </a:lvl1pPr>
            <a:lvl2pPr>
              <a:defRPr sz="750"/>
            </a:lvl2pPr>
            <a:lvl3pPr>
              <a:defRPr sz="675"/>
            </a:lvl3pPr>
            <a:lvl4pPr>
              <a:defRPr sz="600"/>
            </a:lvl4pPr>
            <a:lvl5pPr>
              <a:defRPr sz="6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5056918" y="616377"/>
            <a:ext cx="3304127" cy="379976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5580994" y="4176583"/>
            <a:ext cx="622445" cy="71209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42151204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382180" y="1572670"/>
            <a:ext cx="3837872" cy="994172"/>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382181" y="2576659"/>
            <a:ext cx="3195135" cy="970898"/>
          </a:xfrm>
          <a:prstGeom prst="rect">
            <a:avLst/>
          </a:prstGeom>
        </p:spPr>
        <p:txBody>
          <a:bodyPr>
            <a:noAutofit/>
          </a:bodyPr>
          <a:lstStyle>
            <a:lvl1pPr marL="0" indent="0">
              <a:lnSpc>
                <a:spcPct val="100000"/>
              </a:lnSpc>
              <a:buNone/>
              <a:defRPr sz="1125" b="0">
                <a:solidFill>
                  <a:schemeClr val="accent6"/>
                </a:solidFill>
                <a:latin typeface="+mn-lt"/>
              </a:defRPr>
            </a:lvl1pPr>
            <a:lvl2pPr>
              <a:defRPr sz="750"/>
            </a:lvl2pPr>
            <a:lvl3pPr>
              <a:defRPr sz="675"/>
            </a:lvl3pPr>
            <a:lvl4pPr>
              <a:defRPr sz="600"/>
            </a:lvl4pPr>
            <a:lvl5pPr>
              <a:defRPr sz="6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4308751" y="0"/>
            <a:ext cx="4835249" cy="51435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lang="en-US" dirty="0">
                <a:solidFill>
                  <a:schemeClr val="accent6"/>
                </a:solidFill>
              </a:defRPr>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005011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5032883" y="1512435"/>
            <a:ext cx="3330891" cy="2081893"/>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981174" y="1503729"/>
            <a:ext cx="2695194" cy="216027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1739426" y="2183836"/>
            <a:ext cx="1177959" cy="803122"/>
          </a:xfrm>
          <a:prstGeom prst="rect">
            <a:avLst/>
          </a:prstGeom>
        </p:spPr>
        <p:txBody>
          <a:bodyPr>
            <a:noAutofit/>
          </a:bodyPr>
          <a:lstStyle>
            <a:lvl1pPr marL="0" indent="0" algn="ctr">
              <a:lnSpc>
                <a:spcPct val="113000"/>
              </a:lnSpc>
              <a:buNone/>
              <a:defRPr sz="1350" b="1" cap="all" baseline="0">
                <a:solidFill>
                  <a:schemeClr val="accent6"/>
                </a:solidFill>
              </a:defRPr>
            </a:lvl1pPr>
            <a:lvl2pPr>
              <a:defRPr sz="750"/>
            </a:lvl2pPr>
            <a:lvl3pPr>
              <a:defRPr sz="675"/>
            </a:lvl3pPr>
            <a:lvl4pPr>
              <a:defRPr sz="600"/>
            </a:lvl4pPr>
            <a:lvl5pPr>
              <a:defRPr sz="6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436282" y="416736"/>
            <a:ext cx="3784247" cy="4337322"/>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170668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307764" y="9327"/>
            <a:ext cx="1091641" cy="764345"/>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184615" y="337503"/>
            <a:ext cx="1091641" cy="950022"/>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309164" y="852353"/>
            <a:ext cx="1091641" cy="950022"/>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185053" y="1359328"/>
            <a:ext cx="1091641" cy="950022"/>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2965329" y="3436628"/>
            <a:ext cx="1091641" cy="950022"/>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2966822" y="4464103"/>
            <a:ext cx="1091641" cy="69941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087997" y="3934082"/>
            <a:ext cx="1091641" cy="950022"/>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075358" y="2910465"/>
            <a:ext cx="1091641" cy="950022"/>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2777" y="336098"/>
            <a:ext cx="509153" cy="950022"/>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185265" y="2387095"/>
            <a:ext cx="1091641" cy="950022"/>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350"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4751236" y="4471678"/>
            <a:ext cx="1091641" cy="67617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066211" y="1876573"/>
            <a:ext cx="1099380" cy="967046"/>
          </a:xfrm>
          <a:prstGeom prst="hexagon">
            <a:avLst>
              <a:gd name="adj" fmla="val 28349"/>
              <a:gd name="vf" fmla="val 115470"/>
            </a:avLst>
          </a:prstGeom>
          <a:ln w="12700">
            <a:noFill/>
          </a:ln>
        </p:spPr>
        <p:txBody>
          <a:bodyPr>
            <a:noAutofit/>
          </a:bodyPr>
          <a:lstStyle>
            <a:lvl1pPr marL="0" indent="0" algn="l">
              <a:buFontTx/>
              <a:buNone/>
              <a:defRPr sz="788">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293333" y="1870039"/>
            <a:ext cx="1099380" cy="967046"/>
          </a:xfrm>
          <a:prstGeom prst="hexagon">
            <a:avLst>
              <a:gd name="adj" fmla="val 28349"/>
              <a:gd name="vf" fmla="val 115470"/>
            </a:avLst>
          </a:prstGeom>
          <a:ln>
            <a:noFill/>
          </a:ln>
        </p:spPr>
        <p:txBody>
          <a:bodyPr>
            <a:noAutofit/>
          </a:bodyPr>
          <a:lstStyle>
            <a:lvl1pPr marL="0" indent="0" algn="l">
              <a:buFontTx/>
              <a:buNone/>
              <a:defRPr sz="788">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3863559" y="3929010"/>
            <a:ext cx="1099380" cy="967046"/>
          </a:xfrm>
          <a:prstGeom prst="hexagon">
            <a:avLst>
              <a:gd name="adj" fmla="val 28349"/>
              <a:gd name="vf" fmla="val 115470"/>
            </a:avLst>
          </a:prstGeom>
          <a:ln w="12700">
            <a:noFill/>
          </a:ln>
        </p:spPr>
        <p:txBody>
          <a:bodyPr>
            <a:noAutofit/>
          </a:bodyPr>
          <a:lstStyle>
            <a:lvl1pPr marL="0" indent="0" algn="l">
              <a:buFontTx/>
              <a:buNone/>
              <a:defRPr sz="788">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2961449" y="2396196"/>
            <a:ext cx="1099380" cy="967046"/>
          </a:xfrm>
          <a:prstGeom prst="hexagon">
            <a:avLst>
              <a:gd name="adj" fmla="val 28349"/>
              <a:gd name="vf" fmla="val 115470"/>
            </a:avLst>
          </a:prstGeom>
          <a:ln w="12700">
            <a:noFill/>
          </a:ln>
        </p:spPr>
        <p:txBody>
          <a:bodyPr>
            <a:noAutofit/>
          </a:bodyPr>
          <a:lstStyle>
            <a:lvl1pPr marL="0" indent="0" algn="l">
              <a:buFontTx/>
              <a:buNone/>
              <a:defRPr sz="788">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4572000" y="2320493"/>
            <a:ext cx="2275609" cy="1409843"/>
          </a:xfrm>
          <a:prstGeom prst="rect">
            <a:avLst/>
          </a:prstGeom>
        </p:spPr>
        <p:txBody>
          <a:bodyPr anchor="t">
            <a:noAutofit/>
          </a:bodyPr>
          <a:lstStyle>
            <a:lvl1pPr marL="0" indent="0" algn="l">
              <a:lnSpc>
                <a:spcPct val="100000"/>
              </a:lnSpc>
              <a:buNone/>
              <a:defRPr sz="1350" b="0">
                <a:solidFill>
                  <a:schemeClr val="accent6"/>
                </a:solidFill>
              </a:defRPr>
            </a:lvl1pPr>
            <a:lvl2pPr>
              <a:defRPr sz="750"/>
            </a:lvl2pPr>
            <a:lvl3pPr>
              <a:defRPr sz="675"/>
            </a:lvl3pPr>
            <a:lvl4pPr>
              <a:defRPr sz="600"/>
            </a:lvl4pPr>
            <a:lvl5pPr>
              <a:defRPr sz="6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4572000" y="1277654"/>
            <a:ext cx="3791774" cy="994172"/>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4904" y="1361313"/>
            <a:ext cx="523079" cy="950022"/>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solidFill>
                <a:schemeClr val="accent6"/>
              </a:solidFill>
            </a:endParaRPr>
          </a:p>
        </p:txBody>
      </p:sp>
    </p:spTree>
    <p:extLst>
      <p:ext uri="{BB962C8B-B14F-4D97-AF65-F5344CB8AC3E}">
        <p14:creationId xmlns:p14="http://schemas.microsoft.com/office/powerpoint/2010/main" val="6680055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VinayPratap18" TargetMode="External"/><Relationship Id="rId3" Type="http://schemas.openxmlformats.org/officeDocument/2006/relationships/image" Target="../media/image5.jpeg"/><Relationship Id="rId7" Type="http://schemas.openxmlformats.org/officeDocument/2006/relationships/hyperlink" Target="http://www.linkedin.com/in/vinay-pratap-vishwakarma-955839375"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mailto:pratapvinay365@gmail.com" TargetMode="External"/><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5056918" y="616377"/>
            <a:ext cx="3304127" cy="3799760"/>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7393129" y="629239"/>
            <a:ext cx="1228469" cy="140539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algn="ctr" defTabSz="685800">
              <a:defRPr/>
            </a:pPr>
            <a:endParaRPr lang="en-US" sz="1350" kern="0" dirty="0">
              <a:solidFill>
                <a:prstClr val="white"/>
              </a:solidFill>
              <a:latin typeface="Posterama Text SemiBold"/>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4480827" y="2771190"/>
            <a:ext cx="1228469" cy="140539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algn="ctr" defTabSz="685800">
              <a:defRPr/>
            </a:pPr>
            <a:endParaRPr lang="en-US" sz="1350" kern="0" dirty="0">
              <a:solidFill>
                <a:prstClr val="white"/>
              </a:solidFill>
              <a:latin typeface="Posterama Text SemiBold"/>
            </a:endParaRPr>
          </a:p>
        </p:txBody>
      </p:sp>
      <p:sp>
        <p:nvSpPr>
          <p:cNvPr id="6" name="Title 6">
            <a:extLst>
              <a:ext uri="{FF2B5EF4-FFF2-40B4-BE49-F238E27FC236}">
                <a16:creationId xmlns:a16="http://schemas.microsoft.com/office/drawing/2014/main" id="{91D1B3E1-2B10-5FC6-6DF1-097F67FAEA04}"/>
              </a:ext>
            </a:extLst>
          </p:cNvPr>
          <p:cNvSpPr>
            <a:spLocks noGrp="1"/>
          </p:cNvSpPr>
          <p:nvPr>
            <p:ph type="title"/>
          </p:nvPr>
        </p:nvSpPr>
        <p:spPr>
          <a:xfrm>
            <a:off x="992395" y="1856102"/>
            <a:ext cx="3579605" cy="1601843"/>
          </a:xfrm>
        </p:spPr>
        <p:txBody>
          <a:bodyPr/>
          <a:lstStyle/>
          <a:p>
            <a:pPr algn="l"/>
            <a:r>
              <a:rPr lang="en-IN" sz="3600" b="1" dirty="0">
                <a:latin typeface="Posterama Text SemiBold"/>
              </a:rPr>
              <a:t>Lead Dump Analysis_2</a:t>
            </a:r>
            <a:endParaRPr lang="en-US" sz="3600" b="1" dirty="0">
              <a:latin typeface="Posterama Text SemiBold"/>
            </a:endParaRPr>
          </a:p>
        </p:txBody>
      </p:sp>
      <p:sp>
        <p:nvSpPr>
          <p:cNvPr id="8" name="Text Placeholder 8">
            <a:extLst>
              <a:ext uri="{FF2B5EF4-FFF2-40B4-BE49-F238E27FC236}">
                <a16:creationId xmlns:a16="http://schemas.microsoft.com/office/drawing/2014/main" id="{C8B3609E-4AB9-B248-6479-A9396C3B5B01}"/>
              </a:ext>
            </a:extLst>
          </p:cNvPr>
          <p:cNvSpPr>
            <a:spLocks noGrp="1"/>
          </p:cNvSpPr>
          <p:nvPr>
            <p:ph type="body" sz="quarter" idx="28"/>
          </p:nvPr>
        </p:nvSpPr>
        <p:spPr>
          <a:xfrm>
            <a:off x="1158234" y="3143363"/>
            <a:ext cx="1570612" cy="760288"/>
          </a:xfrm>
        </p:spPr>
        <p:txBody>
          <a:bodyPr/>
          <a:lstStyle/>
          <a:p>
            <a:r>
              <a:rPr lang="en-IN" dirty="0">
                <a:solidFill>
                  <a:schemeClr val="tx1"/>
                </a:solidFill>
              </a:rPr>
              <a:t>V</a:t>
            </a:r>
            <a:r>
              <a:rPr lang="en-US" dirty="0">
                <a:solidFill>
                  <a:schemeClr val="tx1"/>
                </a:solidFill>
              </a:rPr>
              <a:t>inay Pratap Vishwakarma</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669280" y="91440"/>
            <a:ext cx="3200400" cy="3200400"/>
          </a:xfrm>
          <a:prstGeom prst="ellipse">
            <a:avLst/>
          </a:prstGeom>
          <a:solidFill>
            <a:srgbClr val="0D9488">
              <a:alpha val="25000"/>
            </a:srgbClr>
          </a:solidFill>
          <a:ln w="12700">
            <a:solidFill>
              <a:srgbClr val="FFFFFF"/>
            </a:solidFill>
            <a:prstDash val="solid"/>
          </a:ln>
        </p:spPr>
        <p:txBody>
          <a:bodyPr/>
          <a:lstStyle/>
          <a:p>
            <a:endParaRPr lang="en-US" sz="1350"/>
          </a:p>
        </p:txBody>
      </p:sp>
      <p:sp>
        <p:nvSpPr>
          <p:cNvPr id="4" name="Shape 2"/>
          <p:cNvSpPr/>
          <p:nvPr/>
        </p:nvSpPr>
        <p:spPr>
          <a:xfrm>
            <a:off x="4702163" y="3291840"/>
            <a:ext cx="1828800" cy="1828800"/>
          </a:xfrm>
          <a:prstGeom prst="ellipse">
            <a:avLst/>
          </a:prstGeom>
          <a:solidFill>
            <a:srgbClr val="F59E0B">
              <a:alpha val="20000"/>
            </a:srgbClr>
          </a:solidFill>
          <a:ln w="12700">
            <a:solidFill>
              <a:srgbClr val="FFFFFF"/>
            </a:solidFill>
            <a:prstDash val="solid"/>
          </a:ln>
        </p:spPr>
        <p:txBody>
          <a:bodyPr/>
          <a:lstStyle/>
          <a:p>
            <a:endParaRPr lang="en-US" sz="1350"/>
          </a:p>
        </p:txBody>
      </p:sp>
      <p:sp>
        <p:nvSpPr>
          <p:cNvPr id="6" name="Text 4"/>
          <p:cNvSpPr/>
          <p:nvPr/>
        </p:nvSpPr>
        <p:spPr>
          <a:xfrm>
            <a:off x="365760" y="1056015"/>
            <a:ext cx="3108961" cy="1035698"/>
          </a:xfrm>
          <a:prstGeom prst="rect">
            <a:avLst/>
          </a:prstGeom>
          <a:noFill/>
          <a:ln/>
        </p:spPr>
        <p:txBody>
          <a:bodyPr wrap="square" rtlCol="0" anchor="ctr"/>
          <a:lstStyle/>
          <a:p>
            <a:r>
              <a:rPr lang="en-IN" sz="2700" dirty="0"/>
              <a:t>Colleges 2 Dump Analysis</a:t>
            </a:r>
            <a:endParaRPr lang="en-US" sz="2700" dirty="0"/>
          </a:p>
        </p:txBody>
      </p:sp>
      <p:sp>
        <p:nvSpPr>
          <p:cNvPr id="7" name="Text 5"/>
          <p:cNvSpPr/>
          <p:nvPr/>
        </p:nvSpPr>
        <p:spPr>
          <a:xfrm>
            <a:off x="365760" y="2232675"/>
            <a:ext cx="6858000" cy="548640"/>
          </a:xfrm>
          <a:prstGeom prst="rect">
            <a:avLst/>
          </a:prstGeom>
          <a:noFill/>
          <a:ln/>
        </p:spPr>
        <p:txBody>
          <a:bodyPr wrap="square" rtlCol="0" anchor="ctr"/>
          <a:lstStyle/>
          <a:p>
            <a:r>
              <a:rPr lang="en-US" i="1" dirty="0">
                <a:solidFill>
                  <a:schemeClr val="tx1">
                    <a:lumMod val="75000"/>
                    <a:lumOff val="25000"/>
                  </a:schemeClr>
                </a:solidFill>
                <a:latin typeface="Arial" pitchFamily="34" charset="0"/>
                <a:ea typeface="Arial" pitchFamily="34" charset="-122"/>
                <a:cs typeface="Arial" pitchFamily="34" charset="-120"/>
              </a:rPr>
              <a:t>Insights &amp; Business Observations</a:t>
            </a:r>
            <a:endParaRPr lang="en-US" dirty="0">
              <a:solidFill>
                <a:schemeClr val="tx1">
                  <a:lumMod val="75000"/>
                  <a:lumOff val="25000"/>
                </a:schemeClr>
              </a:solidFill>
            </a:endParaRPr>
          </a:p>
        </p:txBody>
      </p:sp>
      <p:sp>
        <p:nvSpPr>
          <p:cNvPr id="8" name="Shape 6"/>
          <p:cNvSpPr/>
          <p:nvPr/>
        </p:nvSpPr>
        <p:spPr>
          <a:xfrm>
            <a:off x="365760" y="3063240"/>
            <a:ext cx="3657600" cy="36576"/>
          </a:xfrm>
          <a:prstGeom prst="rect">
            <a:avLst/>
          </a:prstGeom>
          <a:solidFill>
            <a:srgbClr val="0D9488"/>
          </a:solidFill>
          <a:ln/>
        </p:spPr>
        <p:txBody>
          <a:bodyPr/>
          <a:lstStyle/>
          <a:p>
            <a:endParaRPr lang="en-US" sz="1350"/>
          </a:p>
        </p:txBody>
      </p:sp>
      <p:sp>
        <p:nvSpPr>
          <p:cNvPr id="9" name="Text 7"/>
          <p:cNvSpPr/>
          <p:nvPr/>
        </p:nvSpPr>
        <p:spPr>
          <a:xfrm>
            <a:off x="365760" y="3291840"/>
            <a:ext cx="8229600" cy="411480"/>
          </a:xfrm>
          <a:prstGeom prst="rect">
            <a:avLst/>
          </a:prstGeom>
          <a:noFill/>
          <a:ln/>
        </p:spPr>
        <p:txBody>
          <a:bodyPr wrap="square" rtlCol="0" anchor="ctr"/>
          <a:lstStyle/>
          <a:p>
            <a:r>
              <a:rPr lang="en-US" sz="1100" b="1" dirty="0">
                <a:latin typeface="Arial" pitchFamily="34" charset="0"/>
                <a:ea typeface="Arial" pitchFamily="34" charset="-122"/>
                <a:cs typeface="Arial" pitchFamily="34" charset="-120"/>
              </a:rPr>
              <a:t>Total Records: </a:t>
            </a:r>
            <a:r>
              <a:rPr lang="en-US" sz="1100" dirty="0">
                <a:latin typeface="Arial" pitchFamily="34" charset="0"/>
                <a:ea typeface="Arial" pitchFamily="34" charset="-122"/>
                <a:cs typeface="Arial" pitchFamily="34" charset="-120"/>
              </a:rPr>
              <a:t>56 Leads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222731" y="1729439"/>
            <a:ext cx="3837872" cy="994172"/>
          </a:xfrm>
        </p:spPr>
        <p:txBody>
          <a:bodyPr/>
          <a:lstStyle/>
          <a:p>
            <a:r>
              <a:rPr lang="en-US" altLang="zh-CN" b="1" dirty="0">
                <a:solidFill>
                  <a:schemeClr val="tx1"/>
                </a:solidFill>
              </a:rPr>
              <a:t>Overview</a:t>
            </a:r>
            <a:endParaRPr lang="en-US" b="1" dirty="0">
              <a:solidFill>
                <a:schemeClr val="tx1"/>
              </a:solidFill>
            </a:endParaRP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82181" y="2590655"/>
            <a:ext cx="3459699" cy="1979012"/>
          </a:xfrm>
        </p:spPr>
        <p:txBody>
          <a:bodyPr/>
          <a:lstStyle/>
          <a:p>
            <a:pPr marL="214313" indent="-214313">
              <a:buFont typeface="Arial" panose="020B0604020202020204" pitchFamily="34" charset="0"/>
              <a:buChar char="•"/>
            </a:pPr>
            <a:r>
              <a:rPr lang="en-US" b="1" dirty="0">
                <a:solidFill>
                  <a:schemeClr val="tx1"/>
                </a:solidFill>
              </a:rPr>
              <a:t>In Today’s time there are lots of competition between all colleges and they generate lots of students leads.</a:t>
            </a:r>
          </a:p>
          <a:p>
            <a:endParaRPr lang="en-US" b="1" dirty="0">
              <a:solidFill>
                <a:schemeClr val="tx1"/>
              </a:solidFill>
            </a:endParaRPr>
          </a:p>
          <a:p>
            <a:pPr marL="214313" indent="-214313">
              <a:buFont typeface="Arial" panose="020B0604020202020204" pitchFamily="34" charset="0"/>
              <a:buChar char="•"/>
            </a:pPr>
            <a:r>
              <a:rPr lang="en-US" b="1" dirty="0">
                <a:solidFill>
                  <a:schemeClr val="tx1"/>
                </a:solidFill>
              </a:rPr>
              <a:t>This project focused on the colleges lead data to analyze raw data to actionable business Insights and Recommendation into Student’s behaviors, conversion rate, demographic analysis for meaningful business insights for better Decision-making</a:t>
            </a:r>
          </a:p>
          <a:p>
            <a:endParaRPr lang="en-US" b="1" dirty="0">
              <a:solidFill>
                <a:schemeClr val="tx1"/>
              </a:solidFill>
            </a:endParaRPr>
          </a:p>
          <a:p>
            <a:endParaRPr lang="en-US" b="1" dirty="0">
              <a:solidFill>
                <a:schemeClr val="tx1"/>
              </a:solidFill>
            </a:endParaRPr>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3438616" y="233686"/>
            <a:ext cx="1422706" cy="162870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algn="ctr" defTabSz="685800">
              <a:defRPr/>
            </a:pPr>
            <a:endParaRPr lang="en-US" sz="1350" kern="0" dirty="0">
              <a:solidFill>
                <a:srgbClr val="F7D952"/>
              </a:solidFill>
              <a:latin typeface="Posterama Text SemiBold"/>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4678544" y="1781618"/>
            <a:ext cx="3963936" cy="2081893"/>
          </a:xfrm>
        </p:spPr>
        <p:txBody>
          <a:bodyPr/>
          <a:lstStyle/>
          <a:p>
            <a:pPr marL="171450" indent="-171450" algn="l">
              <a:buFont typeface="Arial" panose="020B0604020202020204" pitchFamily="34" charset="0"/>
              <a:buChar char="•"/>
            </a:pPr>
            <a:r>
              <a:rPr lang="en-IN" sz="1200" b="1" dirty="0">
                <a:solidFill>
                  <a:schemeClr val="tx1"/>
                </a:solidFill>
              </a:rPr>
              <a:t>The institution faces lots of challenges like unstructured data, lacks of facing visibility in admission funnel and difficulty in identify the demographic drop offs and high performing Region.</a:t>
            </a:r>
            <a:br>
              <a:rPr lang="en-IN" sz="1200" b="1" dirty="0">
                <a:solidFill>
                  <a:schemeClr val="tx1"/>
                </a:solidFill>
              </a:rPr>
            </a:br>
            <a:br>
              <a:rPr lang="en-IN" sz="1200" b="1" dirty="0">
                <a:solidFill>
                  <a:schemeClr val="tx1"/>
                </a:solidFill>
              </a:rPr>
            </a:br>
            <a:r>
              <a:rPr lang="en-GB" sz="1200" b="1" dirty="0">
                <a:solidFill>
                  <a:schemeClr val="tx1"/>
                </a:solidFill>
              </a:rPr>
              <a:t>This results in inefficient decision-making and missed opportunities for improving conversions. Although, we have to Give the problem Analysing Report to the Institution.</a:t>
            </a:r>
            <a:br>
              <a:rPr lang="en-GB" sz="1350" b="1" dirty="0">
                <a:solidFill>
                  <a:schemeClr val="tx1"/>
                </a:solidFill>
              </a:rPr>
            </a:br>
            <a:endParaRPr lang="en-US" sz="1200" b="1" dirty="0">
              <a:solidFill>
                <a:schemeClr val="tx1"/>
              </a:solidFill>
            </a:endParaRPr>
          </a:p>
        </p:txBody>
      </p:sp>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a:xfrm>
            <a:off x="1739426" y="2284195"/>
            <a:ext cx="1177959" cy="538370"/>
          </a:xfrm>
        </p:spPr>
        <p:txBody>
          <a:bodyPr/>
          <a:lstStyle/>
          <a:p>
            <a:r>
              <a:rPr lang="en-IN" dirty="0">
                <a:solidFill>
                  <a:schemeClr val="tx1"/>
                </a:solidFill>
              </a:rPr>
              <a:t>P</a:t>
            </a:r>
            <a:r>
              <a:rPr lang="en-US" dirty="0">
                <a:solidFill>
                  <a:schemeClr val="tx1"/>
                </a:solidFill>
              </a:rPr>
              <a:t>roblem Statement</a:t>
            </a:r>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xfrm>
            <a:off x="436283" y="466599"/>
            <a:ext cx="3740742" cy="4287459"/>
          </a:xfrm>
          <a:blipFill>
            <a:blip r:embed="rId4"/>
            <a:stretch>
              <a:fillRect/>
            </a:stretch>
          </a:blipFill>
        </p:spPr>
      </p:pic>
      <p:sp>
        <p:nvSpPr>
          <p:cNvPr id="3" name="Shape 1">
            <a:extLst>
              <a:ext uri="{FF2B5EF4-FFF2-40B4-BE49-F238E27FC236}">
                <a16:creationId xmlns:a16="http://schemas.microsoft.com/office/drawing/2014/main" id="{885FA0AB-B59D-5623-0155-CEEE9E8886E6}"/>
              </a:ext>
            </a:extLst>
          </p:cNvPr>
          <p:cNvSpPr/>
          <p:nvPr/>
        </p:nvSpPr>
        <p:spPr>
          <a:xfrm>
            <a:off x="7067939" y="15282"/>
            <a:ext cx="1945433" cy="1930151"/>
          </a:xfrm>
          <a:prstGeom prst="ellipse">
            <a:avLst/>
          </a:prstGeom>
          <a:solidFill>
            <a:srgbClr val="0D9488">
              <a:alpha val="25000"/>
            </a:srgbClr>
          </a:solidFill>
          <a:ln w="12700">
            <a:solidFill>
              <a:srgbClr val="FFFFFF"/>
            </a:solidFill>
            <a:prstDash val="solid"/>
          </a:ln>
        </p:spPr>
        <p:txBody>
          <a:bodyPr/>
          <a:lstStyle/>
          <a:p>
            <a:endParaRPr lang="en-US" sz="1350"/>
          </a:p>
        </p:txBody>
      </p:sp>
    </p:spTree>
    <p:extLst>
      <p:ext uri="{BB962C8B-B14F-4D97-AF65-F5344CB8AC3E}">
        <p14:creationId xmlns:p14="http://schemas.microsoft.com/office/powerpoint/2010/main" val="247807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259197"/>
            <a:ext cx="777240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Executive Summary</a:t>
            </a:r>
            <a:endParaRPr lang="en-US" sz="2800" dirty="0"/>
          </a:p>
        </p:txBody>
      </p:sp>
      <p:sp>
        <p:nvSpPr>
          <p:cNvPr id="5" name="Shape 3"/>
          <p:cNvSpPr/>
          <p:nvPr/>
        </p:nvSpPr>
        <p:spPr>
          <a:xfrm>
            <a:off x="228600" y="1143000"/>
            <a:ext cx="1920240" cy="1371600"/>
          </a:xfrm>
          <a:prstGeom prst="rect">
            <a:avLst/>
          </a:prstGeom>
          <a:solidFill>
            <a:srgbClr val="1E2761"/>
          </a:solidFill>
          <a:ln w="12700">
            <a:solidFill>
              <a:srgbClr val="1E2761"/>
            </a:solidFill>
            <a:prstDash val="solid"/>
          </a:ln>
          <a:effectLst>
            <a:outerShdw blurRad="76200" dist="38100" dir="8100000" algn="bl" rotWithShape="0">
              <a:srgbClr val="000000">
                <a:alpha val="12000"/>
              </a:srgbClr>
            </a:outerShdw>
          </a:effectLst>
        </p:spPr>
      </p:sp>
      <p:sp>
        <p:nvSpPr>
          <p:cNvPr id="6" name="Text 4"/>
          <p:cNvSpPr/>
          <p:nvPr/>
        </p:nvSpPr>
        <p:spPr>
          <a:xfrm>
            <a:off x="228600" y="120700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56</a:t>
            </a:r>
            <a:endParaRPr lang="en-US" sz="3200" dirty="0"/>
          </a:p>
        </p:txBody>
      </p:sp>
      <p:sp>
        <p:nvSpPr>
          <p:cNvPr id="7" name="Text 5"/>
          <p:cNvSpPr/>
          <p:nvPr/>
        </p:nvSpPr>
        <p:spPr>
          <a:xfrm>
            <a:off x="228600" y="196596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Total Leads</a:t>
            </a:r>
            <a:endParaRPr lang="en-US" sz="1000" dirty="0"/>
          </a:p>
        </p:txBody>
      </p:sp>
      <p:sp>
        <p:nvSpPr>
          <p:cNvPr id="8" name="Shape 6"/>
          <p:cNvSpPr/>
          <p:nvPr/>
        </p:nvSpPr>
        <p:spPr>
          <a:xfrm>
            <a:off x="2423160" y="1143000"/>
            <a:ext cx="1920240" cy="137160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9" name="Text 7"/>
          <p:cNvSpPr/>
          <p:nvPr/>
        </p:nvSpPr>
        <p:spPr>
          <a:xfrm>
            <a:off x="2423160" y="120700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100%</a:t>
            </a:r>
            <a:endParaRPr lang="en-US" sz="3200" dirty="0"/>
          </a:p>
        </p:txBody>
      </p:sp>
      <p:sp>
        <p:nvSpPr>
          <p:cNvPr id="10" name="Text 8"/>
          <p:cNvSpPr/>
          <p:nvPr/>
        </p:nvSpPr>
        <p:spPr>
          <a:xfrm>
            <a:off x="2423160" y="196596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Enrollment Rate</a:t>
            </a:r>
            <a:endParaRPr lang="en-US" sz="1000" dirty="0"/>
          </a:p>
        </p:txBody>
      </p:sp>
      <p:sp>
        <p:nvSpPr>
          <p:cNvPr id="11" name="Shape 9"/>
          <p:cNvSpPr/>
          <p:nvPr/>
        </p:nvSpPr>
        <p:spPr>
          <a:xfrm>
            <a:off x="4617720" y="1143000"/>
            <a:ext cx="1920240" cy="1371600"/>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12" name="Text 10"/>
          <p:cNvSpPr/>
          <p:nvPr/>
        </p:nvSpPr>
        <p:spPr>
          <a:xfrm>
            <a:off x="4617720" y="120700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91.9</a:t>
            </a:r>
            <a:endParaRPr lang="en-US" sz="3200" dirty="0"/>
          </a:p>
        </p:txBody>
      </p:sp>
      <p:sp>
        <p:nvSpPr>
          <p:cNvPr id="13" name="Text 11"/>
          <p:cNvSpPr/>
          <p:nvPr/>
        </p:nvSpPr>
        <p:spPr>
          <a:xfrm>
            <a:off x="4617720" y="196596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Avg Lead Score</a:t>
            </a:r>
            <a:endParaRPr lang="en-US" sz="1000" dirty="0"/>
          </a:p>
        </p:txBody>
      </p:sp>
      <p:sp>
        <p:nvSpPr>
          <p:cNvPr id="14" name="Shape 12"/>
          <p:cNvSpPr/>
          <p:nvPr/>
        </p:nvSpPr>
        <p:spPr>
          <a:xfrm>
            <a:off x="6812280" y="1143000"/>
            <a:ext cx="1920240" cy="1371600"/>
          </a:xfrm>
          <a:prstGeom prst="rect">
            <a:avLst/>
          </a:prstGeom>
          <a:solidFill>
            <a:srgbClr val="028090"/>
          </a:solidFill>
          <a:ln w="12700">
            <a:solidFill>
              <a:srgbClr val="028090"/>
            </a:solidFill>
            <a:prstDash val="solid"/>
          </a:ln>
          <a:effectLst>
            <a:outerShdw blurRad="76200" dist="38100" dir="8100000" algn="bl" rotWithShape="0">
              <a:srgbClr val="000000">
                <a:alpha val="12000"/>
              </a:srgbClr>
            </a:outerShdw>
          </a:effectLst>
        </p:spPr>
      </p:sp>
      <p:sp>
        <p:nvSpPr>
          <p:cNvPr id="15" name="Text 13"/>
          <p:cNvSpPr/>
          <p:nvPr/>
        </p:nvSpPr>
        <p:spPr>
          <a:xfrm>
            <a:off x="6812280" y="120700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163</a:t>
            </a:r>
            <a:endParaRPr lang="en-US" sz="3200" dirty="0"/>
          </a:p>
        </p:txBody>
      </p:sp>
      <p:sp>
        <p:nvSpPr>
          <p:cNvPr id="16" name="Text 14"/>
          <p:cNvSpPr/>
          <p:nvPr/>
        </p:nvSpPr>
        <p:spPr>
          <a:xfrm>
            <a:off x="6812280" y="196596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Max Lead Score</a:t>
            </a:r>
            <a:endParaRPr lang="en-US" sz="1000" dirty="0"/>
          </a:p>
        </p:txBody>
      </p:sp>
      <p:sp>
        <p:nvSpPr>
          <p:cNvPr id="17" name="Shape 15"/>
          <p:cNvSpPr/>
          <p:nvPr/>
        </p:nvSpPr>
        <p:spPr>
          <a:xfrm>
            <a:off x="228600" y="2788920"/>
            <a:ext cx="1920240" cy="1371600"/>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18" name="Text 16"/>
          <p:cNvSpPr/>
          <p:nvPr/>
        </p:nvSpPr>
        <p:spPr>
          <a:xfrm>
            <a:off x="228600" y="285292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59%</a:t>
            </a:r>
            <a:endParaRPr lang="en-US" sz="3200" dirty="0"/>
          </a:p>
        </p:txBody>
      </p:sp>
      <p:sp>
        <p:nvSpPr>
          <p:cNvPr id="19" name="Text 17"/>
          <p:cNvSpPr/>
          <p:nvPr/>
        </p:nvSpPr>
        <p:spPr>
          <a:xfrm>
            <a:off x="228600" y="361188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API Origin</a:t>
            </a:r>
            <a:endParaRPr lang="en-US" sz="1000" dirty="0"/>
          </a:p>
        </p:txBody>
      </p:sp>
      <p:sp>
        <p:nvSpPr>
          <p:cNvPr id="20" name="Shape 18"/>
          <p:cNvSpPr/>
          <p:nvPr/>
        </p:nvSpPr>
        <p:spPr>
          <a:xfrm>
            <a:off x="2423160" y="2788920"/>
            <a:ext cx="1920240" cy="1371600"/>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21" name="Text 19"/>
          <p:cNvSpPr/>
          <p:nvPr/>
        </p:nvSpPr>
        <p:spPr>
          <a:xfrm>
            <a:off x="2423160" y="285292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41%</a:t>
            </a:r>
            <a:endParaRPr lang="en-US" sz="3200" dirty="0"/>
          </a:p>
        </p:txBody>
      </p:sp>
      <p:sp>
        <p:nvSpPr>
          <p:cNvPr id="22" name="Text 20"/>
          <p:cNvSpPr/>
          <p:nvPr/>
        </p:nvSpPr>
        <p:spPr>
          <a:xfrm>
            <a:off x="2423160" y="361188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Online Origin</a:t>
            </a:r>
            <a:endParaRPr lang="en-US" sz="1000" dirty="0"/>
          </a:p>
        </p:txBody>
      </p:sp>
      <p:sp>
        <p:nvSpPr>
          <p:cNvPr id="23" name="Shape 21"/>
          <p:cNvSpPr/>
          <p:nvPr/>
        </p:nvSpPr>
        <p:spPr>
          <a:xfrm>
            <a:off x="4617720" y="2788920"/>
            <a:ext cx="1920240" cy="137160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24" name="Text 22"/>
          <p:cNvSpPr/>
          <p:nvPr/>
        </p:nvSpPr>
        <p:spPr>
          <a:xfrm>
            <a:off x="4617720" y="285292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100%</a:t>
            </a:r>
            <a:endParaRPr lang="en-US" sz="3200" dirty="0"/>
          </a:p>
        </p:txBody>
      </p:sp>
      <p:sp>
        <p:nvSpPr>
          <p:cNvPr id="25" name="Text 23"/>
          <p:cNvSpPr/>
          <p:nvPr/>
        </p:nvSpPr>
        <p:spPr>
          <a:xfrm>
            <a:off x="4617720" y="361188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Mobile Verified</a:t>
            </a:r>
            <a:endParaRPr lang="en-US" sz="1000" dirty="0"/>
          </a:p>
        </p:txBody>
      </p:sp>
      <p:sp>
        <p:nvSpPr>
          <p:cNvPr id="26" name="Shape 24"/>
          <p:cNvSpPr/>
          <p:nvPr/>
        </p:nvSpPr>
        <p:spPr>
          <a:xfrm>
            <a:off x="6812280" y="2788920"/>
            <a:ext cx="1920240" cy="1371600"/>
          </a:xfrm>
          <a:prstGeom prst="rect">
            <a:avLst/>
          </a:prstGeom>
          <a:solidFill>
            <a:srgbClr val="FFC000"/>
          </a:solidFill>
          <a:ln w="12700">
            <a:solidFill>
              <a:srgbClr val="FFC000"/>
            </a:solidFill>
            <a:prstDash val="solid"/>
          </a:ln>
          <a:effectLst>
            <a:outerShdw blurRad="76200" dist="38100" dir="8100000" algn="bl" rotWithShape="0">
              <a:srgbClr val="000000">
                <a:alpha val="12000"/>
              </a:srgbClr>
            </a:outerShdw>
          </a:effectLst>
        </p:spPr>
      </p:sp>
      <p:sp>
        <p:nvSpPr>
          <p:cNvPr id="27" name="Text 25"/>
          <p:cNvSpPr/>
          <p:nvPr/>
        </p:nvSpPr>
        <p:spPr>
          <a:xfrm>
            <a:off x="6812280" y="2852928"/>
            <a:ext cx="1920240" cy="79552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55%</a:t>
            </a:r>
            <a:endParaRPr lang="en-US" sz="3200" dirty="0"/>
          </a:p>
        </p:txBody>
      </p:sp>
      <p:sp>
        <p:nvSpPr>
          <p:cNvPr id="28" name="Text 26"/>
          <p:cNvSpPr/>
          <p:nvPr/>
        </p:nvSpPr>
        <p:spPr>
          <a:xfrm>
            <a:off x="6812280" y="3611880"/>
            <a:ext cx="1920240" cy="480060"/>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Email Verified</a:t>
            </a:r>
            <a:endParaRPr lang="en-US" sz="1000" dirty="0"/>
          </a:p>
        </p:txBody>
      </p:sp>
      <p:sp>
        <p:nvSpPr>
          <p:cNvPr id="29" name="Shape 27"/>
          <p:cNvSpPr/>
          <p:nvPr/>
        </p:nvSpPr>
        <p:spPr>
          <a:xfrm>
            <a:off x="228600" y="4297680"/>
            <a:ext cx="8686800" cy="594360"/>
          </a:xfrm>
          <a:prstGeom prst="rect">
            <a:avLst/>
          </a:prstGeom>
          <a:solidFill>
            <a:srgbClr val="BDD7EE">
              <a:alpha val="60000"/>
            </a:srgbClr>
          </a:solidFill>
          <a:ln w="12700">
            <a:solidFill>
              <a:srgbClr val="4472C4"/>
            </a:solidFill>
            <a:prstDash val="solid"/>
          </a:ln>
        </p:spPr>
      </p:sp>
      <p:sp>
        <p:nvSpPr>
          <p:cNvPr id="30" name="Text 28"/>
          <p:cNvSpPr/>
          <p:nvPr/>
        </p:nvSpPr>
        <p:spPr>
          <a:xfrm>
            <a:off x="320040" y="4315968"/>
            <a:ext cx="8412480" cy="548640"/>
          </a:xfrm>
          <a:prstGeom prst="rect">
            <a:avLst/>
          </a:prstGeom>
          <a:noFill/>
          <a:ln/>
        </p:spPr>
        <p:txBody>
          <a:bodyPr wrap="square" lIns="0" tIns="0" rIns="0" bIns="0" rtlCol="0" anchor="ctr"/>
          <a:lstStyle/>
          <a:p>
            <a:pPr marL="0" indent="0">
              <a:buNone/>
            </a:pPr>
            <a:r>
              <a:rPr lang="en-US" sz="1100" b="1" dirty="0">
                <a:latin typeface="Arial" pitchFamily="34" charset="0"/>
                <a:ea typeface="Arial" pitchFamily="34" charset="-122"/>
                <a:cs typeface="Arial" pitchFamily="34" charset="-120"/>
              </a:rPr>
              <a:t>🔑  All 56 leads are enrolled and from India, indicating a focused domestic outreach. NCR region (Delhi + UP) contributes 77% of total leads. B.Tech CSE is the top demanded course at 45%.</a:t>
            </a:r>
            <a:endParaRPr lang="en-US" sz="11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Lead Origin &amp; Lead Stage</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How leads entered the funnel and their current progression</a:t>
            </a:r>
            <a:endParaRPr lang="en-US" sz="1100" dirty="0"/>
          </a:p>
        </p:txBody>
      </p:sp>
      <p:sp>
        <p:nvSpPr>
          <p:cNvPr id="5" name="Shape 3"/>
          <p:cNvSpPr/>
          <p:nvPr/>
        </p:nvSpPr>
        <p:spPr>
          <a:xfrm>
            <a:off x="274320" y="1143000"/>
            <a:ext cx="3931920" cy="356616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6" name="Text 4"/>
          <p:cNvSpPr/>
          <p:nvPr/>
        </p:nvSpPr>
        <p:spPr>
          <a:xfrm>
            <a:off x="365760" y="1234440"/>
            <a:ext cx="37490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Lead Origin</a:t>
            </a:r>
            <a:endParaRPr lang="en-US" sz="1300" dirty="0"/>
          </a:p>
        </p:txBody>
      </p:sp>
      <p:sp>
        <p:nvSpPr>
          <p:cNvPr id="7" name="Shape 5"/>
          <p:cNvSpPr/>
          <p:nvPr/>
        </p:nvSpPr>
        <p:spPr>
          <a:xfrm>
            <a:off x="457200" y="1737360"/>
            <a:ext cx="3566160" cy="502920"/>
          </a:xfrm>
          <a:prstGeom prst="rect">
            <a:avLst/>
          </a:prstGeom>
          <a:solidFill>
            <a:srgbClr val="E8EEF8"/>
          </a:solidFill>
          <a:ln w="12700">
            <a:solidFill>
              <a:srgbClr val="E8EEF8"/>
            </a:solidFill>
            <a:prstDash val="solid"/>
          </a:ln>
        </p:spPr>
      </p:sp>
      <p:sp>
        <p:nvSpPr>
          <p:cNvPr id="8" name="Shape 6"/>
          <p:cNvSpPr/>
          <p:nvPr/>
        </p:nvSpPr>
        <p:spPr>
          <a:xfrm>
            <a:off x="457200" y="1737360"/>
            <a:ext cx="2100468" cy="502920"/>
          </a:xfrm>
          <a:prstGeom prst="rect">
            <a:avLst/>
          </a:prstGeom>
          <a:solidFill>
            <a:srgbClr val="E95B4E"/>
          </a:solidFill>
          <a:ln w="12700">
            <a:solidFill>
              <a:srgbClr val="E95B4E"/>
            </a:solidFill>
            <a:prstDash val="solid"/>
          </a:ln>
        </p:spPr>
      </p:sp>
      <p:sp>
        <p:nvSpPr>
          <p:cNvPr id="9" name="Text 7"/>
          <p:cNvSpPr/>
          <p:nvPr/>
        </p:nvSpPr>
        <p:spPr>
          <a:xfrm>
            <a:off x="457200" y="1764792"/>
            <a:ext cx="3566160" cy="438912"/>
          </a:xfrm>
          <a:prstGeom prst="rect">
            <a:avLst/>
          </a:prstGeom>
          <a:noFill/>
          <a:ln/>
        </p:spPr>
        <p:txBody>
          <a:bodyPr wrap="square" lIns="50800" tIns="50800" rIns="50800" bIns="50800" rtlCol="0" anchor="ctr"/>
          <a:lstStyle/>
          <a:p>
            <a:pPr marL="0" indent="0">
              <a:buNone/>
            </a:pPr>
            <a:r>
              <a:rPr lang="en-US" sz="1200" b="1" dirty="0">
                <a:latin typeface="Arial" pitchFamily="34" charset="0"/>
                <a:ea typeface="Arial" pitchFamily="34" charset="-122"/>
                <a:cs typeface="Arial" pitchFamily="34" charset="-120"/>
              </a:rPr>
              <a:t>API  •  33 leads  •  58.9%</a:t>
            </a:r>
            <a:endParaRPr lang="en-US" sz="1200" dirty="0"/>
          </a:p>
        </p:txBody>
      </p:sp>
      <p:sp>
        <p:nvSpPr>
          <p:cNvPr id="10" name="Shape 8"/>
          <p:cNvSpPr/>
          <p:nvPr/>
        </p:nvSpPr>
        <p:spPr>
          <a:xfrm>
            <a:off x="457200" y="2377440"/>
            <a:ext cx="3566160" cy="502920"/>
          </a:xfrm>
          <a:prstGeom prst="rect">
            <a:avLst/>
          </a:prstGeom>
          <a:solidFill>
            <a:srgbClr val="E8EEF8"/>
          </a:solidFill>
          <a:ln w="12700">
            <a:solidFill>
              <a:srgbClr val="E8EEF8"/>
            </a:solidFill>
            <a:prstDash val="solid"/>
          </a:ln>
        </p:spPr>
      </p:sp>
      <p:sp>
        <p:nvSpPr>
          <p:cNvPr id="11" name="Shape 9"/>
          <p:cNvSpPr/>
          <p:nvPr/>
        </p:nvSpPr>
        <p:spPr>
          <a:xfrm>
            <a:off x="457200" y="2377440"/>
            <a:ext cx="1465692" cy="502920"/>
          </a:xfrm>
          <a:prstGeom prst="rect">
            <a:avLst/>
          </a:prstGeom>
          <a:solidFill>
            <a:srgbClr val="4472C4"/>
          </a:solidFill>
          <a:ln w="12700">
            <a:solidFill>
              <a:srgbClr val="4472C4"/>
            </a:solidFill>
            <a:prstDash val="solid"/>
          </a:ln>
        </p:spPr>
      </p:sp>
      <p:sp>
        <p:nvSpPr>
          <p:cNvPr id="12" name="Text 10"/>
          <p:cNvSpPr/>
          <p:nvPr/>
        </p:nvSpPr>
        <p:spPr>
          <a:xfrm>
            <a:off x="457200" y="2404872"/>
            <a:ext cx="3566160" cy="438912"/>
          </a:xfrm>
          <a:prstGeom prst="rect">
            <a:avLst/>
          </a:prstGeom>
          <a:noFill/>
          <a:ln/>
        </p:spPr>
        <p:txBody>
          <a:bodyPr wrap="square" lIns="50800" tIns="50800" rIns="50800" bIns="50800" rtlCol="0" anchor="ctr"/>
          <a:lstStyle/>
          <a:p>
            <a:pPr marL="0" indent="0">
              <a:buNone/>
            </a:pPr>
            <a:r>
              <a:rPr lang="en-US" sz="1200" b="1" dirty="0">
                <a:latin typeface="Arial" pitchFamily="34" charset="0"/>
                <a:ea typeface="Arial" pitchFamily="34" charset="-122"/>
                <a:cs typeface="Arial" pitchFamily="34" charset="-120"/>
              </a:rPr>
              <a:t>Online  •  23 leads  •  41.1%</a:t>
            </a:r>
            <a:endParaRPr lang="en-US" sz="1200" dirty="0"/>
          </a:p>
        </p:txBody>
      </p:sp>
      <p:sp>
        <p:nvSpPr>
          <p:cNvPr id="13" name="Text 11"/>
          <p:cNvSpPr/>
          <p:nvPr/>
        </p:nvSpPr>
        <p:spPr>
          <a:xfrm>
            <a:off x="365760" y="3017520"/>
            <a:ext cx="3749040" cy="640080"/>
          </a:xfrm>
          <a:prstGeom prst="rect">
            <a:avLst/>
          </a:prstGeom>
          <a:noFill/>
          <a:ln/>
        </p:spPr>
        <p:txBody>
          <a:bodyPr wrap="square" lIns="50800" tIns="50800" rIns="50800" bIns="50800" rtlCol="0" anchor="ctr"/>
          <a:lstStyle/>
          <a:p>
            <a:pPr marL="0" indent="0">
              <a:buNone/>
            </a:pPr>
            <a:r>
              <a:rPr lang="en-US" sz="950" b="1" dirty="0">
                <a:latin typeface="Arial" pitchFamily="34" charset="0"/>
                <a:ea typeface="Arial" pitchFamily="34" charset="-122"/>
                <a:cs typeface="Arial" pitchFamily="34" charset="-120"/>
              </a:rPr>
              <a:t>API leads surpass Online leads, suggesting strong integration with 3rd-party platforms.</a:t>
            </a:r>
            <a:endParaRPr lang="en-US" sz="950" b="1" dirty="0"/>
          </a:p>
        </p:txBody>
      </p:sp>
      <p:sp>
        <p:nvSpPr>
          <p:cNvPr id="14" name="Shape 12"/>
          <p:cNvSpPr/>
          <p:nvPr/>
        </p:nvSpPr>
        <p:spPr>
          <a:xfrm>
            <a:off x="365760" y="3764866"/>
            <a:ext cx="3657600" cy="822960"/>
          </a:xfrm>
          <a:prstGeom prst="rect">
            <a:avLst/>
          </a:prstGeom>
          <a:solidFill>
            <a:srgbClr val="F5F7FA"/>
          </a:solidFill>
          <a:ln w="12700">
            <a:solidFill>
              <a:srgbClr val="BDD7EE"/>
            </a:solidFill>
            <a:prstDash val="solid"/>
          </a:ln>
        </p:spPr>
      </p:sp>
      <p:sp>
        <p:nvSpPr>
          <p:cNvPr id="15" name="Text 13"/>
          <p:cNvSpPr/>
          <p:nvPr/>
        </p:nvSpPr>
        <p:spPr>
          <a:xfrm>
            <a:off x="457200" y="3810586"/>
            <a:ext cx="3474720" cy="256032"/>
          </a:xfrm>
          <a:prstGeom prst="rect">
            <a:avLst/>
          </a:prstGeom>
          <a:noFill/>
          <a:ln/>
        </p:spPr>
        <p:txBody>
          <a:bodyPr wrap="square" lIns="0" tIns="0" rIns="0" bIns="0" rtlCol="0" anchor="ctr"/>
          <a:lstStyle/>
          <a:p>
            <a:pPr marL="0" indent="0">
              <a:buNone/>
            </a:pPr>
            <a:r>
              <a:rPr lang="en-US" sz="900" b="1" dirty="0">
                <a:solidFill>
                  <a:srgbClr val="1E2761"/>
                </a:solidFill>
                <a:latin typeface="Arial" pitchFamily="34" charset="0"/>
                <a:ea typeface="Arial" pitchFamily="34" charset="-122"/>
                <a:cs typeface="Arial" pitchFamily="34" charset="-120"/>
              </a:rPr>
              <a:t>Registration Device (Online Only)</a:t>
            </a:r>
            <a:endParaRPr lang="en-US" sz="900" dirty="0"/>
          </a:p>
        </p:txBody>
      </p:sp>
      <p:sp>
        <p:nvSpPr>
          <p:cNvPr id="16" name="Text 14"/>
          <p:cNvSpPr/>
          <p:nvPr/>
        </p:nvSpPr>
        <p:spPr>
          <a:xfrm>
            <a:off x="457200" y="4084906"/>
            <a:ext cx="3474720" cy="320040"/>
          </a:xfrm>
          <a:prstGeom prst="rect">
            <a:avLst/>
          </a:prstGeom>
          <a:noFill/>
          <a:ln/>
        </p:spPr>
        <p:txBody>
          <a:bodyPr wrap="square" lIns="0" tIns="0" rIns="0" bIns="0" rtlCol="0" anchor="ctr"/>
          <a:lstStyle/>
          <a:p>
            <a:pPr marL="0" indent="0">
              <a:buNone/>
            </a:pPr>
            <a:r>
              <a:rPr lang="en-US" sz="1000" b="1" dirty="0">
                <a:latin typeface="Arial" pitchFamily="34" charset="0"/>
                <a:ea typeface="Arial" pitchFamily="34" charset="-122"/>
                <a:cs typeface="Arial" pitchFamily="34" charset="-120"/>
              </a:rPr>
              <a:t>Desktop: 21 (91.3%)   •   Mobile: 2 (8.7%)</a:t>
            </a:r>
            <a:endParaRPr lang="en-US" sz="1000" b="1" dirty="0"/>
          </a:p>
        </p:txBody>
      </p:sp>
      <p:sp>
        <p:nvSpPr>
          <p:cNvPr id="17" name="Shape 15"/>
          <p:cNvSpPr/>
          <p:nvPr/>
        </p:nvSpPr>
        <p:spPr>
          <a:xfrm>
            <a:off x="4434840" y="1143000"/>
            <a:ext cx="4389120" cy="356616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18" name="Text 16"/>
          <p:cNvSpPr/>
          <p:nvPr/>
        </p:nvSpPr>
        <p:spPr>
          <a:xfrm>
            <a:off x="4526280" y="1234440"/>
            <a:ext cx="42062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Lead Stage</a:t>
            </a:r>
            <a:endParaRPr lang="en-US" sz="1300" dirty="0"/>
          </a:p>
        </p:txBody>
      </p:sp>
      <p:sp>
        <p:nvSpPr>
          <p:cNvPr id="19" name="Shape 17"/>
          <p:cNvSpPr/>
          <p:nvPr/>
        </p:nvSpPr>
        <p:spPr>
          <a:xfrm>
            <a:off x="4617720" y="1737360"/>
            <a:ext cx="4023360" cy="68580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20" name="Text 18"/>
          <p:cNvSpPr/>
          <p:nvPr/>
        </p:nvSpPr>
        <p:spPr>
          <a:xfrm>
            <a:off x="4663440" y="1764792"/>
            <a:ext cx="2011680" cy="347472"/>
          </a:xfrm>
          <a:prstGeom prst="rect">
            <a:avLst/>
          </a:prstGeom>
          <a:noFill/>
          <a:ln/>
        </p:spPr>
        <p:txBody>
          <a:bodyPr wrap="square" lIns="25400" tIns="25400" rIns="25400" bIns="25400" rtlCol="0" anchor="ctr"/>
          <a:lstStyle/>
          <a:p>
            <a:pPr marL="0" indent="0">
              <a:buNone/>
            </a:pPr>
            <a:r>
              <a:rPr lang="en-US" sz="1300" b="1" dirty="0">
                <a:solidFill>
                  <a:srgbClr val="FFFFFF"/>
                </a:solidFill>
                <a:latin typeface="Arial" pitchFamily="34" charset="0"/>
                <a:ea typeface="Arial" pitchFamily="34" charset="-122"/>
                <a:cs typeface="Arial" pitchFamily="34" charset="-120"/>
              </a:rPr>
              <a:t>Applied</a:t>
            </a:r>
            <a:endParaRPr lang="en-US" sz="1300" dirty="0"/>
          </a:p>
        </p:txBody>
      </p:sp>
      <p:sp>
        <p:nvSpPr>
          <p:cNvPr id="21" name="Text 19"/>
          <p:cNvSpPr/>
          <p:nvPr/>
        </p:nvSpPr>
        <p:spPr>
          <a:xfrm>
            <a:off x="4663440" y="2084832"/>
            <a:ext cx="2011680" cy="274320"/>
          </a:xfrm>
          <a:prstGeom prst="rect">
            <a:avLst/>
          </a:prstGeom>
          <a:noFill/>
          <a:ln/>
        </p:spPr>
        <p:txBody>
          <a:bodyPr wrap="square" lIns="25400" tIns="25400" rIns="25400" bIns="25400" rtlCol="0" anchor="ctr"/>
          <a:lstStyle/>
          <a:p>
            <a:pPr marL="0" indent="0">
              <a:buNone/>
            </a:pPr>
            <a:r>
              <a:rPr lang="en-US" sz="1100" dirty="0">
                <a:solidFill>
                  <a:srgbClr val="CCFFCC"/>
                </a:solidFill>
                <a:latin typeface="Arial" pitchFamily="34" charset="0"/>
                <a:ea typeface="Arial" pitchFamily="34" charset="-122"/>
                <a:cs typeface="Arial" pitchFamily="34" charset="-120"/>
              </a:rPr>
              <a:t>41 leads</a:t>
            </a:r>
            <a:endParaRPr lang="en-US" sz="1100" dirty="0"/>
          </a:p>
        </p:txBody>
      </p:sp>
      <p:sp>
        <p:nvSpPr>
          <p:cNvPr id="22" name="Text 20"/>
          <p:cNvSpPr/>
          <p:nvPr/>
        </p:nvSpPr>
        <p:spPr>
          <a:xfrm>
            <a:off x="6675120" y="1764792"/>
            <a:ext cx="1645920" cy="640080"/>
          </a:xfrm>
          <a:prstGeom prst="rect">
            <a:avLst/>
          </a:prstGeom>
          <a:noFill/>
          <a:ln/>
        </p:spPr>
        <p:txBody>
          <a:bodyPr wrap="square" lIns="25400" tIns="25400" rIns="25400" bIns="25400" rtlCol="0" anchor="ctr"/>
          <a:lstStyle/>
          <a:p>
            <a:pPr marL="0" indent="0" algn="r">
              <a:buNone/>
            </a:pPr>
            <a:r>
              <a:rPr lang="en-US" sz="2600" b="1" dirty="0">
                <a:solidFill>
                  <a:srgbClr val="FFFFFF"/>
                </a:solidFill>
                <a:latin typeface="Arial Black" pitchFamily="34" charset="0"/>
                <a:ea typeface="Arial Black" pitchFamily="34" charset="-122"/>
                <a:cs typeface="Arial Black" pitchFamily="34" charset="-120"/>
              </a:rPr>
              <a:t>73.2%</a:t>
            </a:r>
            <a:endParaRPr lang="en-US" sz="2600" dirty="0"/>
          </a:p>
        </p:txBody>
      </p:sp>
      <p:sp>
        <p:nvSpPr>
          <p:cNvPr id="23" name="Shape 21"/>
          <p:cNvSpPr/>
          <p:nvPr/>
        </p:nvSpPr>
        <p:spPr>
          <a:xfrm>
            <a:off x="4617720" y="2560320"/>
            <a:ext cx="4023360" cy="685800"/>
          </a:xfrm>
          <a:prstGeom prst="rect">
            <a:avLst/>
          </a:prstGeom>
          <a:solidFill>
            <a:srgbClr val="0070C0"/>
          </a:solidFill>
          <a:ln w="12700">
            <a:solidFill>
              <a:srgbClr val="FFC000"/>
            </a:solidFill>
            <a:prstDash val="solid"/>
          </a:ln>
          <a:effectLst>
            <a:outerShdw blurRad="76200" dist="38100" dir="8100000" algn="bl" rotWithShape="0">
              <a:srgbClr val="000000">
                <a:alpha val="12000"/>
              </a:srgbClr>
            </a:outerShdw>
          </a:effectLst>
        </p:spPr>
      </p:sp>
      <p:sp>
        <p:nvSpPr>
          <p:cNvPr id="24" name="Text 22"/>
          <p:cNvSpPr/>
          <p:nvPr/>
        </p:nvSpPr>
        <p:spPr>
          <a:xfrm>
            <a:off x="4663440" y="2587752"/>
            <a:ext cx="2377440" cy="347472"/>
          </a:xfrm>
          <a:prstGeom prst="rect">
            <a:avLst/>
          </a:prstGeom>
          <a:noFill/>
          <a:ln/>
        </p:spPr>
        <p:txBody>
          <a:bodyPr wrap="square" lIns="25400" tIns="25400" rIns="25400" bIns="25400" rtlCol="0" anchor="ctr"/>
          <a:lstStyle/>
          <a:p>
            <a:pPr marL="0" indent="0">
              <a:buNone/>
            </a:pPr>
            <a:r>
              <a:rPr lang="en-US" sz="1100" b="1" dirty="0">
                <a:solidFill>
                  <a:srgbClr val="FFFFFF"/>
                </a:solidFill>
                <a:latin typeface="Arial" pitchFamily="34" charset="0"/>
                <a:ea typeface="Arial" pitchFamily="34" charset="-122"/>
                <a:cs typeface="Arial" pitchFamily="34" charset="-120"/>
              </a:rPr>
              <a:t>Untouched &amp; Applied</a:t>
            </a:r>
            <a:endParaRPr lang="en-US" sz="1100" dirty="0"/>
          </a:p>
        </p:txBody>
      </p:sp>
      <p:sp>
        <p:nvSpPr>
          <p:cNvPr id="25" name="Text 23"/>
          <p:cNvSpPr/>
          <p:nvPr/>
        </p:nvSpPr>
        <p:spPr>
          <a:xfrm>
            <a:off x="4663440" y="2907792"/>
            <a:ext cx="2011680" cy="274320"/>
          </a:xfrm>
          <a:prstGeom prst="rect">
            <a:avLst/>
          </a:prstGeom>
          <a:noFill/>
          <a:ln/>
        </p:spPr>
        <p:txBody>
          <a:bodyPr wrap="square" lIns="25400" tIns="25400" rIns="25400" bIns="25400" rtlCol="0" anchor="ctr"/>
          <a:lstStyle/>
          <a:p>
            <a:pPr marL="0" indent="0">
              <a:buNone/>
            </a:pPr>
            <a:r>
              <a:rPr lang="en-US" sz="1100" dirty="0">
                <a:solidFill>
                  <a:srgbClr val="FFFFCC"/>
                </a:solidFill>
                <a:latin typeface="Arial" pitchFamily="34" charset="0"/>
                <a:ea typeface="Arial" pitchFamily="34" charset="-122"/>
                <a:cs typeface="Arial" pitchFamily="34" charset="-120"/>
              </a:rPr>
              <a:t>15 leads</a:t>
            </a:r>
            <a:endParaRPr lang="en-US" sz="1100" dirty="0"/>
          </a:p>
        </p:txBody>
      </p:sp>
      <p:sp>
        <p:nvSpPr>
          <p:cNvPr id="26" name="Text 24"/>
          <p:cNvSpPr/>
          <p:nvPr/>
        </p:nvSpPr>
        <p:spPr>
          <a:xfrm>
            <a:off x="6675120" y="2587752"/>
            <a:ext cx="1645920" cy="640080"/>
          </a:xfrm>
          <a:prstGeom prst="rect">
            <a:avLst/>
          </a:prstGeom>
          <a:noFill/>
          <a:ln/>
        </p:spPr>
        <p:txBody>
          <a:bodyPr wrap="square" lIns="25400" tIns="25400" rIns="25400" bIns="25400" rtlCol="0" anchor="ctr"/>
          <a:lstStyle/>
          <a:p>
            <a:pPr marL="0" indent="0" algn="r">
              <a:buNone/>
            </a:pPr>
            <a:r>
              <a:rPr lang="en-US" sz="2600" b="1" dirty="0">
                <a:solidFill>
                  <a:srgbClr val="FFFFFF"/>
                </a:solidFill>
                <a:latin typeface="Arial Black" pitchFamily="34" charset="0"/>
                <a:ea typeface="Arial Black" pitchFamily="34" charset="-122"/>
                <a:cs typeface="Arial Black" pitchFamily="34" charset="-120"/>
              </a:rPr>
              <a:t>26.8%</a:t>
            </a:r>
            <a:endParaRPr lang="en-US" sz="2600" dirty="0"/>
          </a:p>
        </p:txBody>
      </p:sp>
      <p:sp>
        <p:nvSpPr>
          <p:cNvPr id="27" name="Text 25"/>
          <p:cNvSpPr/>
          <p:nvPr/>
        </p:nvSpPr>
        <p:spPr>
          <a:xfrm>
            <a:off x="4526280" y="3383280"/>
            <a:ext cx="4206240" cy="685800"/>
          </a:xfrm>
          <a:prstGeom prst="rect">
            <a:avLst/>
          </a:prstGeom>
          <a:noFill/>
          <a:ln/>
        </p:spPr>
        <p:txBody>
          <a:bodyPr wrap="square" lIns="50800" tIns="50800" rIns="50800" bIns="50800" rtlCol="0" anchor="ctr"/>
          <a:lstStyle/>
          <a:p>
            <a:pPr marL="0" indent="0">
              <a:buNone/>
            </a:pPr>
            <a:r>
              <a:rPr lang="en-US" sz="950" b="1" dirty="0">
                <a:latin typeface="Arial" pitchFamily="34" charset="0"/>
                <a:ea typeface="Arial" pitchFamily="34" charset="-122"/>
                <a:cs typeface="Arial" pitchFamily="34" charset="-120"/>
              </a:rPr>
              <a:t>27% of leads reached Applied stage without being followed up — an opportunity to improve counsellor engagement.</a:t>
            </a:r>
            <a:endParaRPr lang="en-US" sz="95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Geographic Distribution</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State and city-level breakdown of lead sources</a:t>
            </a:r>
            <a:endParaRPr lang="en-US" sz="1100" dirty="0"/>
          </a:p>
        </p:txBody>
      </p:sp>
      <p:sp>
        <p:nvSpPr>
          <p:cNvPr id="5" name="Shape 3"/>
          <p:cNvSpPr/>
          <p:nvPr/>
        </p:nvSpPr>
        <p:spPr>
          <a:xfrm>
            <a:off x="278189" y="1234440"/>
            <a:ext cx="5205046" cy="356616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6" name="Text 4"/>
          <p:cNvSpPr/>
          <p:nvPr/>
        </p:nvSpPr>
        <p:spPr>
          <a:xfrm>
            <a:off x="365760" y="1234440"/>
            <a:ext cx="4754880" cy="347472"/>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State-wise Distribution</a:t>
            </a:r>
            <a:endParaRPr lang="en-US" sz="1300" dirty="0"/>
          </a:p>
        </p:txBody>
      </p:sp>
      <p:sp>
        <p:nvSpPr>
          <p:cNvPr id="31" name="Shape 29"/>
          <p:cNvSpPr/>
          <p:nvPr/>
        </p:nvSpPr>
        <p:spPr>
          <a:xfrm>
            <a:off x="365760" y="4434840"/>
            <a:ext cx="4754880" cy="201168"/>
          </a:xfrm>
          <a:prstGeom prst="rect">
            <a:avLst/>
          </a:prstGeom>
          <a:solidFill>
            <a:srgbClr val="BDD7EE">
              <a:alpha val="80000"/>
            </a:srgbClr>
          </a:solidFill>
          <a:ln w="12700">
            <a:solidFill>
              <a:srgbClr val="BDD7EE"/>
            </a:solidFill>
            <a:prstDash val="solid"/>
          </a:ln>
        </p:spPr>
      </p:sp>
      <p:sp>
        <p:nvSpPr>
          <p:cNvPr id="32" name="Text 30"/>
          <p:cNvSpPr/>
          <p:nvPr/>
        </p:nvSpPr>
        <p:spPr>
          <a:xfrm>
            <a:off x="411480" y="4443984"/>
            <a:ext cx="4663440" cy="182880"/>
          </a:xfrm>
          <a:prstGeom prst="rect">
            <a:avLst/>
          </a:prstGeom>
          <a:noFill/>
          <a:ln/>
        </p:spPr>
        <p:txBody>
          <a:bodyPr wrap="square" lIns="0" tIns="0" rIns="0" bIns="0" rtlCol="0" anchor="ctr"/>
          <a:lstStyle/>
          <a:p>
            <a:pPr marL="0" indent="0" algn="ctr">
              <a:buNone/>
            </a:pPr>
            <a:r>
              <a:rPr lang="en-US" sz="900" b="1" dirty="0">
                <a:solidFill>
                  <a:srgbClr val="1E2761"/>
                </a:solidFill>
                <a:latin typeface="Arial" pitchFamily="34" charset="0"/>
                <a:ea typeface="Arial" pitchFamily="34" charset="-122"/>
                <a:cs typeface="Arial" pitchFamily="34" charset="-120"/>
              </a:rPr>
              <a:t>UP + Delhi = 77% of total leads  |  Strong NCR concentration</a:t>
            </a:r>
            <a:endParaRPr lang="en-US" sz="900" dirty="0"/>
          </a:p>
        </p:txBody>
      </p:sp>
      <p:sp>
        <p:nvSpPr>
          <p:cNvPr id="33" name="Shape 31"/>
          <p:cNvSpPr/>
          <p:nvPr/>
        </p:nvSpPr>
        <p:spPr>
          <a:xfrm>
            <a:off x="5532120" y="1234439"/>
            <a:ext cx="3291840" cy="356616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34" name="Text 32"/>
          <p:cNvSpPr/>
          <p:nvPr/>
        </p:nvSpPr>
        <p:spPr>
          <a:xfrm>
            <a:off x="5669280" y="1234440"/>
            <a:ext cx="3108960" cy="347472"/>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Top Cities</a:t>
            </a:r>
            <a:endParaRPr lang="en-US" sz="1300" dirty="0"/>
          </a:p>
        </p:txBody>
      </p:sp>
      <p:sp>
        <p:nvSpPr>
          <p:cNvPr id="36" name="Text 34"/>
          <p:cNvSpPr/>
          <p:nvPr/>
        </p:nvSpPr>
        <p:spPr>
          <a:xfrm>
            <a:off x="7498080" y="1664208"/>
            <a:ext cx="411480" cy="274320"/>
          </a:xfrm>
          <a:prstGeom prst="rect">
            <a:avLst/>
          </a:prstGeom>
          <a:noFill/>
          <a:ln/>
        </p:spPr>
        <p:txBody>
          <a:bodyPr wrap="square" lIns="0" tIns="0" rIns="0" bIns="0" rtlCol="0" anchor="ctr"/>
          <a:lstStyle/>
          <a:p>
            <a:pPr marL="0" indent="0" algn="r">
              <a:buNone/>
            </a:pPr>
            <a:endParaRPr lang="en-US" sz="1000" dirty="0"/>
          </a:p>
        </p:txBody>
      </p:sp>
      <p:sp>
        <p:nvSpPr>
          <p:cNvPr id="40" name="Text 38"/>
          <p:cNvSpPr/>
          <p:nvPr/>
        </p:nvSpPr>
        <p:spPr>
          <a:xfrm>
            <a:off x="7498080" y="2011680"/>
            <a:ext cx="411480" cy="274320"/>
          </a:xfrm>
          <a:prstGeom prst="rect">
            <a:avLst/>
          </a:prstGeom>
          <a:noFill/>
          <a:ln/>
        </p:spPr>
        <p:txBody>
          <a:bodyPr wrap="square" lIns="0" tIns="0" rIns="0" bIns="0" rtlCol="0" anchor="ctr"/>
          <a:lstStyle/>
          <a:p>
            <a:pPr marL="0" indent="0" algn="r">
              <a:buNone/>
            </a:pPr>
            <a:endParaRPr lang="en-US" sz="1000" dirty="0"/>
          </a:p>
        </p:txBody>
      </p:sp>
      <p:sp>
        <p:nvSpPr>
          <p:cNvPr id="60" name="Text 58"/>
          <p:cNvSpPr/>
          <p:nvPr/>
        </p:nvSpPr>
        <p:spPr>
          <a:xfrm>
            <a:off x="7498080" y="3749040"/>
            <a:ext cx="411480" cy="274320"/>
          </a:xfrm>
          <a:prstGeom prst="rect">
            <a:avLst/>
          </a:prstGeom>
          <a:noFill/>
          <a:ln/>
        </p:spPr>
        <p:txBody>
          <a:bodyPr wrap="square" lIns="0" tIns="0" rIns="0" bIns="0" rtlCol="0" anchor="ctr"/>
          <a:lstStyle/>
          <a:p>
            <a:pPr marL="0" indent="0" algn="r">
              <a:buNone/>
            </a:pPr>
            <a:endParaRPr lang="en-US" sz="1000" dirty="0"/>
          </a:p>
        </p:txBody>
      </p:sp>
      <p:graphicFrame>
        <p:nvGraphicFramePr>
          <p:cNvPr id="76" name="Chart 75">
            <a:extLst>
              <a:ext uri="{FF2B5EF4-FFF2-40B4-BE49-F238E27FC236}">
                <a16:creationId xmlns:a16="http://schemas.microsoft.com/office/drawing/2014/main" id="{00B8DF67-1072-7F72-B577-54DEF7C4848A}"/>
              </a:ext>
            </a:extLst>
          </p:cNvPr>
          <p:cNvGraphicFramePr>
            <a:graphicFrameLocks/>
          </p:cNvGraphicFramePr>
          <p:nvPr>
            <p:extLst>
              <p:ext uri="{D42A27DB-BD31-4B8C-83A1-F6EECF244321}">
                <p14:modId xmlns:p14="http://schemas.microsoft.com/office/powerpoint/2010/main" val="1457233416"/>
              </p:ext>
            </p:extLst>
          </p:nvPr>
        </p:nvGraphicFramePr>
        <p:xfrm>
          <a:off x="5597369" y="1444752"/>
          <a:ext cx="3219557" cy="314553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7" name="Chart 76">
            <a:extLst>
              <a:ext uri="{FF2B5EF4-FFF2-40B4-BE49-F238E27FC236}">
                <a16:creationId xmlns:a16="http://schemas.microsoft.com/office/drawing/2014/main" id="{6DB41E78-602A-AF88-B282-143F2B9F5ED1}"/>
              </a:ext>
            </a:extLst>
          </p:cNvPr>
          <p:cNvGraphicFramePr>
            <a:graphicFrameLocks/>
          </p:cNvGraphicFramePr>
          <p:nvPr>
            <p:extLst>
              <p:ext uri="{D42A27DB-BD31-4B8C-83A1-F6EECF244321}">
                <p14:modId xmlns:p14="http://schemas.microsoft.com/office/powerpoint/2010/main" val="3568017952"/>
              </p:ext>
            </p:extLst>
          </p:nvPr>
        </p:nvGraphicFramePr>
        <p:xfrm>
          <a:off x="411480" y="1472184"/>
          <a:ext cx="5017770" cy="2953512"/>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Course Demand Analysis</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Which programs are attracting the most applicants</a:t>
            </a:r>
            <a:endParaRPr lang="en-US" sz="1100" dirty="0"/>
          </a:p>
        </p:txBody>
      </p:sp>
      <p:sp>
        <p:nvSpPr>
          <p:cNvPr id="5" name="Shape 3"/>
          <p:cNvSpPr/>
          <p:nvPr/>
        </p:nvSpPr>
        <p:spPr>
          <a:xfrm>
            <a:off x="274320" y="1143000"/>
            <a:ext cx="8595360" cy="960120"/>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6" name="Text 4"/>
          <p:cNvSpPr/>
          <p:nvPr/>
        </p:nvSpPr>
        <p:spPr>
          <a:xfrm>
            <a:off x="457200" y="1188720"/>
            <a:ext cx="4572000"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  B.Tech CSE</a:t>
            </a:r>
            <a:endParaRPr lang="en-US" sz="1800" dirty="0"/>
          </a:p>
        </p:txBody>
      </p:sp>
      <p:sp>
        <p:nvSpPr>
          <p:cNvPr id="7" name="Text 5"/>
          <p:cNvSpPr/>
          <p:nvPr/>
        </p:nvSpPr>
        <p:spPr>
          <a:xfrm>
            <a:off x="457200" y="1627632"/>
            <a:ext cx="4572000" cy="320040"/>
          </a:xfrm>
          <a:prstGeom prst="rect">
            <a:avLst/>
          </a:prstGeom>
          <a:noFill/>
          <a:ln/>
        </p:spPr>
        <p:txBody>
          <a:bodyPr wrap="square" lIns="0" tIns="0" rIns="0" bIns="0" rtlCol="0" anchor="ctr"/>
          <a:lstStyle/>
          <a:p>
            <a:pPr marL="0" indent="0">
              <a:buNone/>
            </a:pPr>
            <a:r>
              <a:rPr lang="en-US" sz="1100" dirty="0">
                <a:solidFill>
                  <a:srgbClr val="FFE0DD"/>
                </a:solidFill>
                <a:latin typeface="Arial" pitchFamily="34" charset="0"/>
                <a:ea typeface="Arial" pitchFamily="34" charset="-122"/>
                <a:cs typeface="Arial" pitchFamily="34" charset="-120"/>
              </a:rPr>
              <a:t>25 leads  |  44.6% of total demand </a:t>
            </a:r>
            <a:endParaRPr lang="en-US" sz="1100" dirty="0"/>
          </a:p>
        </p:txBody>
      </p:sp>
      <p:sp>
        <p:nvSpPr>
          <p:cNvPr id="8" name="Text 6"/>
          <p:cNvSpPr/>
          <p:nvPr/>
        </p:nvSpPr>
        <p:spPr>
          <a:xfrm>
            <a:off x="6858000" y="1143000"/>
            <a:ext cx="1828800" cy="960120"/>
          </a:xfrm>
          <a:prstGeom prst="rect">
            <a:avLst/>
          </a:prstGeom>
          <a:noFill/>
          <a:ln/>
        </p:spPr>
        <p:txBody>
          <a:bodyPr wrap="square" lIns="0" tIns="0" rIns="0" bIns="0" rtlCol="0" anchor="ctr"/>
          <a:lstStyle/>
          <a:p>
            <a:pPr marL="0" indent="0" algn="ctr">
              <a:buNone/>
            </a:pPr>
            <a:r>
              <a:rPr lang="en-US" sz="5200" b="1" dirty="0">
                <a:solidFill>
                  <a:srgbClr val="FFFFFF"/>
                </a:solidFill>
                <a:latin typeface="Arial Black" pitchFamily="34" charset="0"/>
                <a:ea typeface="Arial Black" pitchFamily="34" charset="-122"/>
                <a:cs typeface="Arial Black" pitchFamily="34" charset="-120"/>
              </a:rPr>
              <a:t>25</a:t>
            </a:r>
            <a:endParaRPr lang="en-US" sz="5200" dirty="0"/>
          </a:p>
        </p:txBody>
      </p:sp>
      <p:sp>
        <p:nvSpPr>
          <p:cNvPr id="13" name="Text 11"/>
          <p:cNvSpPr/>
          <p:nvPr/>
        </p:nvSpPr>
        <p:spPr>
          <a:xfrm>
            <a:off x="7955280" y="2331720"/>
            <a:ext cx="548640" cy="237744"/>
          </a:xfrm>
          <a:prstGeom prst="rect">
            <a:avLst/>
          </a:prstGeom>
          <a:noFill/>
          <a:ln/>
        </p:spPr>
        <p:txBody>
          <a:bodyPr wrap="square" lIns="0" tIns="0" rIns="0" bIns="0" rtlCol="0" anchor="ctr"/>
          <a:lstStyle/>
          <a:p>
            <a:pPr marL="0" indent="0" algn="ctr">
              <a:buNone/>
            </a:pPr>
            <a:endParaRPr lang="en-US" sz="950" dirty="0"/>
          </a:p>
        </p:txBody>
      </p:sp>
      <p:sp>
        <p:nvSpPr>
          <p:cNvPr id="17" name="Text 15"/>
          <p:cNvSpPr/>
          <p:nvPr/>
        </p:nvSpPr>
        <p:spPr>
          <a:xfrm>
            <a:off x="7955280" y="2624328"/>
            <a:ext cx="548640" cy="237744"/>
          </a:xfrm>
          <a:prstGeom prst="rect">
            <a:avLst/>
          </a:prstGeom>
          <a:noFill/>
          <a:ln/>
        </p:spPr>
        <p:txBody>
          <a:bodyPr wrap="square" lIns="0" tIns="0" rIns="0" bIns="0" rtlCol="0" anchor="ctr"/>
          <a:lstStyle/>
          <a:p>
            <a:pPr marL="0" indent="0" algn="ctr">
              <a:buNone/>
            </a:pPr>
            <a:endParaRPr lang="en-US" sz="950" dirty="0"/>
          </a:p>
        </p:txBody>
      </p:sp>
      <p:sp>
        <p:nvSpPr>
          <p:cNvPr id="29" name="Text 27"/>
          <p:cNvSpPr/>
          <p:nvPr/>
        </p:nvSpPr>
        <p:spPr>
          <a:xfrm>
            <a:off x="7955280" y="3502152"/>
            <a:ext cx="548640" cy="237744"/>
          </a:xfrm>
          <a:prstGeom prst="rect">
            <a:avLst/>
          </a:prstGeom>
          <a:noFill/>
          <a:ln/>
        </p:spPr>
        <p:txBody>
          <a:bodyPr wrap="square" lIns="0" tIns="0" rIns="0" bIns="0" rtlCol="0" anchor="ctr"/>
          <a:lstStyle/>
          <a:p>
            <a:pPr marL="0" indent="0" algn="ctr">
              <a:buNone/>
            </a:pPr>
            <a:endParaRPr lang="en-US" sz="950" dirty="0"/>
          </a:p>
        </p:txBody>
      </p:sp>
      <p:sp>
        <p:nvSpPr>
          <p:cNvPr id="39" name="Shape 37"/>
          <p:cNvSpPr/>
          <p:nvPr/>
        </p:nvSpPr>
        <p:spPr>
          <a:xfrm>
            <a:off x="3749040" y="4416552"/>
            <a:ext cx="4114800" cy="146304"/>
          </a:xfrm>
          <a:prstGeom prst="rect">
            <a:avLst/>
          </a:prstGeom>
          <a:solidFill>
            <a:srgbClr val="E8EEF8"/>
          </a:solidFill>
          <a:ln w="12700">
            <a:solidFill>
              <a:srgbClr val="E8EEF8"/>
            </a:solidFill>
            <a:prstDash val="solid"/>
          </a:ln>
        </p:spPr>
      </p:sp>
      <p:sp>
        <p:nvSpPr>
          <p:cNvPr id="42" name="Shape 40"/>
          <p:cNvSpPr/>
          <p:nvPr/>
        </p:nvSpPr>
        <p:spPr>
          <a:xfrm>
            <a:off x="274320" y="4690872"/>
            <a:ext cx="8595360" cy="420624"/>
          </a:xfrm>
          <a:prstGeom prst="rect">
            <a:avLst/>
          </a:prstGeom>
          <a:solidFill>
            <a:srgbClr val="BDD7EE">
              <a:alpha val="70000"/>
            </a:srgbClr>
          </a:solidFill>
          <a:ln w="12700">
            <a:solidFill>
              <a:srgbClr val="4472C4"/>
            </a:solidFill>
            <a:prstDash val="solid"/>
          </a:ln>
        </p:spPr>
      </p:sp>
      <p:sp>
        <p:nvSpPr>
          <p:cNvPr id="43" name="Text 41"/>
          <p:cNvSpPr/>
          <p:nvPr/>
        </p:nvSpPr>
        <p:spPr>
          <a:xfrm>
            <a:off x="365760" y="4718304"/>
            <a:ext cx="8412480" cy="374904"/>
          </a:xfrm>
          <a:prstGeom prst="rect">
            <a:avLst/>
          </a:prstGeom>
          <a:noFill/>
          <a:ln/>
        </p:spPr>
        <p:txBody>
          <a:bodyPr wrap="square" lIns="0" tIns="0" rIns="0" bIns="0" rtlCol="0" anchor="ctr"/>
          <a:lstStyle/>
          <a:p>
            <a:pPr marL="0" indent="0">
              <a:buNone/>
            </a:pPr>
            <a:r>
              <a:rPr lang="en-US" sz="1000" b="1" dirty="0">
                <a:latin typeface="Arial" pitchFamily="34" charset="0"/>
                <a:ea typeface="Arial" pitchFamily="34" charset="-122"/>
                <a:cs typeface="Arial" pitchFamily="34" charset="-120"/>
              </a:rPr>
              <a:t>💡  Technology-oriented courses (CSE, AI, ECE) collectively account for 62.5% — indicating strong tech career aspirations among applicants.</a:t>
            </a:r>
            <a:endParaRPr lang="en-US" sz="1000" b="1" dirty="0"/>
          </a:p>
        </p:txBody>
      </p:sp>
      <p:graphicFrame>
        <p:nvGraphicFramePr>
          <p:cNvPr id="44" name="Chart 43">
            <a:extLst>
              <a:ext uri="{FF2B5EF4-FFF2-40B4-BE49-F238E27FC236}">
                <a16:creationId xmlns:a16="http://schemas.microsoft.com/office/drawing/2014/main" id="{D6E50811-FA68-9F15-CA91-A282225DDAE0}"/>
              </a:ext>
            </a:extLst>
          </p:cNvPr>
          <p:cNvGraphicFramePr>
            <a:graphicFrameLocks/>
          </p:cNvGraphicFramePr>
          <p:nvPr>
            <p:extLst>
              <p:ext uri="{D42A27DB-BD31-4B8C-83A1-F6EECF244321}">
                <p14:modId xmlns:p14="http://schemas.microsoft.com/office/powerpoint/2010/main" val="2282333432"/>
              </p:ext>
            </p:extLst>
          </p:nvPr>
        </p:nvGraphicFramePr>
        <p:xfrm>
          <a:off x="274320" y="2001129"/>
          <a:ext cx="8595360" cy="258775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Lead Score Analysis</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Understanding lead quality through scoring metrics</a:t>
            </a:r>
            <a:endParaRPr lang="en-US" sz="1100" dirty="0"/>
          </a:p>
        </p:txBody>
      </p:sp>
      <p:sp>
        <p:nvSpPr>
          <p:cNvPr id="5" name="Shape 3"/>
          <p:cNvSpPr/>
          <p:nvPr/>
        </p:nvSpPr>
        <p:spPr>
          <a:xfrm>
            <a:off x="274320" y="1097280"/>
            <a:ext cx="1920240" cy="1188720"/>
          </a:xfrm>
          <a:prstGeom prst="rect">
            <a:avLst/>
          </a:prstGeom>
          <a:solidFill>
            <a:srgbClr val="FFC000"/>
          </a:solidFill>
          <a:ln w="12700">
            <a:solidFill>
              <a:srgbClr val="FFC000"/>
            </a:solidFill>
            <a:prstDash val="solid"/>
          </a:ln>
          <a:effectLst>
            <a:outerShdw blurRad="76200" dist="38100" dir="8100000" algn="bl" rotWithShape="0">
              <a:srgbClr val="000000">
                <a:alpha val="12000"/>
              </a:srgbClr>
            </a:outerShdw>
          </a:effectLst>
        </p:spPr>
      </p:sp>
      <p:sp>
        <p:nvSpPr>
          <p:cNvPr id="6" name="Text 4"/>
          <p:cNvSpPr/>
          <p:nvPr/>
        </p:nvSpPr>
        <p:spPr>
          <a:xfrm>
            <a:off x="274320" y="1161288"/>
            <a:ext cx="1920240" cy="68945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36</a:t>
            </a:r>
            <a:endParaRPr lang="en-US" sz="3200" dirty="0"/>
          </a:p>
        </p:txBody>
      </p:sp>
      <p:sp>
        <p:nvSpPr>
          <p:cNvPr id="7" name="Text 5"/>
          <p:cNvSpPr/>
          <p:nvPr/>
        </p:nvSpPr>
        <p:spPr>
          <a:xfrm>
            <a:off x="274320" y="1810512"/>
            <a:ext cx="1920240" cy="416052"/>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Minimum</a:t>
            </a:r>
            <a:endParaRPr lang="en-US" sz="1000" dirty="0"/>
          </a:p>
        </p:txBody>
      </p:sp>
      <p:sp>
        <p:nvSpPr>
          <p:cNvPr id="8" name="Shape 6"/>
          <p:cNvSpPr/>
          <p:nvPr/>
        </p:nvSpPr>
        <p:spPr>
          <a:xfrm>
            <a:off x="2423160" y="1097280"/>
            <a:ext cx="1920240" cy="1188720"/>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9" name="Text 7"/>
          <p:cNvSpPr/>
          <p:nvPr/>
        </p:nvSpPr>
        <p:spPr>
          <a:xfrm>
            <a:off x="2423160" y="1161288"/>
            <a:ext cx="1920240" cy="68945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91.9</a:t>
            </a:r>
            <a:endParaRPr lang="en-US" sz="3200" dirty="0"/>
          </a:p>
        </p:txBody>
      </p:sp>
      <p:sp>
        <p:nvSpPr>
          <p:cNvPr id="10" name="Text 8"/>
          <p:cNvSpPr/>
          <p:nvPr/>
        </p:nvSpPr>
        <p:spPr>
          <a:xfrm>
            <a:off x="2423160" y="1810512"/>
            <a:ext cx="1920240" cy="416052"/>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Average</a:t>
            </a:r>
            <a:endParaRPr lang="en-US" sz="1000" dirty="0"/>
          </a:p>
        </p:txBody>
      </p:sp>
      <p:sp>
        <p:nvSpPr>
          <p:cNvPr id="11" name="Shape 9"/>
          <p:cNvSpPr/>
          <p:nvPr/>
        </p:nvSpPr>
        <p:spPr>
          <a:xfrm>
            <a:off x="4572000" y="1097280"/>
            <a:ext cx="1920240" cy="1188720"/>
          </a:xfrm>
          <a:prstGeom prst="rect">
            <a:avLst/>
          </a:prstGeom>
          <a:solidFill>
            <a:srgbClr val="028090"/>
          </a:solidFill>
          <a:ln w="12700">
            <a:solidFill>
              <a:srgbClr val="028090"/>
            </a:solidFill>
            <a:prstDash val="solid"/>
          </a:ln>
          <a:effectLst>
            <a:outerShdw blurRad="76200" dist="38100" dir="8100000" algn="bl" rotWithShape="0">
              <a:srgbClr val="000000">
                <a:alpha val="12000"/>
              </a:srgbClr>
            </a:outerShdw>
          </a:effectLst>
        </p:spPr>
      </p:sp>
      <p:sp>
        <p:nvSpPr>
          <p:cNvPr id="12" name="Text 10"/>
          <p:cNvSpPr/>
          <p:nvPr/>
        </p:nvSpPr>
        <p:spPr>
          <a:xfrm>
            <a:off x="4572000" y="1161288"/>
            <a:ext cx="1920240" cy="68945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85.5</a:t>
            </a:r>
            <a:endParaRPr lang="en-US" sz="3200" dirty="0"/>
          </a:p>
        </p:txBody>
      </p:sp>
      <p:sp>
        <p:nvSpPr>
          <p:cNvPr id="13" name="Text 11"/>
          <p:cNvSpPr/>
          <p:nvPr/>
        </p:nvSpPr>
        <p:spPr>
          <a:xfrm>
            <a:off x="4572000" y="1810512"/>
            <a:ext cx="1920240" cy="416052"/>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Median</a:t>
            </a:r>
            <a:endParaRPr lang="en-US" sz="1000" dirty="0"/>
          </a:p>
        </p:txBody>
      </p:sp>
      <p:sp>
        <p:nvSpPr>
          <p:cNvPr id="14" name="Shape 12"/>
          <p:cNvSpPr/>
          <p:nvPr/>
        </p:nvSpPr>
        <p:spPr>
          <a:xfrm>
            <a:off x="6720840" y="1097280"/>
            <a:ext cx="1920240" cy="118872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15" name="Text 13"/>
          <p:cNvSpPr/>
          <p:nvPr/>
        </p:nvSpPr>
        <p:spPr>
          <a:xfrm>
            <a:off x="6720840" y="1161288"/>
            <a:ext cx="1920240" cy="689458"/>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163</a:t>
            </a:r>
            <a:endParaRPr lang="en-US" sz="3200" dirty="0"/>
          </a:p>
        </p:txBody>
      </p:sp>
      <p:sp>
        <p:nvSpPr>
          <p:cNvPr id="16" name="Text 14"/>
          <p:cNvSpPr/>
          <p:nvPr/>
        </p:nvSpPr>
        <p:spPr>
          <a:xfrm>
            <a:off x="6720840" y="1810512"/>
            <a:ext cx="1920240" cy="416052"/>
          </a:xfrm>
          <a:prstGeom prst="rect">
            <a:avLst/>
          </a:prstGeom>
          <a:noFill/>
          <a:ln/>
        </p:spPr>
        <p:txBody>
          <a:bodyPr wrap="square" lIns="0" tIns="0" rIns="0" bIns="0" rtlCol="0" anchor="ctr"/>
          <a:lstStyle/>
          <a:p>
            <a:pPr marL="0" indent="0" algn="ctr">
              <a:buNone/>
            </a:pPr>
            <a:r>
              <a:rPr lang="en-US" sz="1000" dirty="0">
                <a:solidFill>
                  <a:srgbClr val="DDEEFF"/>
                </a:solidFill>
                <a:latin typeface="Arial" pitchFamily="34" charset="0"/>
                <a:ea typeface="Arial" pitchFamily="34" charset="-122"/>
                <a:cs typeface="Arial" pitchFamily="34" charset="-120"/>
              </a:rPr>
              <a:t>Maximum</a:t>
            </a:r>
            <a:endParaRPr lang="en-US" sz="1000" dirty="0"/>
          </a:p>
        </p:txBody>
      </p:sp>
      <p:sp>
        <p:nvSpPr>
          <p:cNvPr id="17" name="Shape 15"/>
          <p:cNvSpPr/>
          <p:nvPr/>
        </p:nvSpPr>
        <p:spPr>
          <a:xfrm>
            <a:off x="274320" y="2468880"/>
            <a:ext cx="8595360" cy="233172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18" name="Text 16"/>
          <p:cNvSpPr/>
          <p:nvPr/>
        </p:nvSpPr>
        <p:spPr>
          <a:xfrm>
            <a:off x="411480" y="2542032"/>
            <a:ext cx="8229600" cy="329184"/>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Lead Score Distribution by Bucket</a:t>
            </a:r>
            <a:endParaRPr lang="en-US" sz="1300" dirty="0"/>
          </a:p>
        </p:txBody>
      </p:sp>
      <p:sp>
        <p:nvSpPr>
          <p:cNvPr id="19" name="Shape 17"/>
          <p:cNvSpPr/>
          <p:nvPr/>
        </p:nvSpPr>
        <p:spPr>
          <a:xfrm>
            <a:off x="640080" y="4223614"/>
            <a:ext cx="1554480" cy="74066"/>
          </a:xfrm>
          <a:prstGeom prst="rect">
            <a:avLst/>
          </a:prstGeom>
          <a:solidFill>
            <a:srgbClr val="FFC000"/>
          </a:solidFill>
          <a:ln w="12700">
            <a:solidFill>
              <a:srgbClr val="FFC000"/>
            </a:solidFill>
            <a:prstDash val="solid"/>
          </a:ln>
          <a:effectLst>
            <a:outerShdw blurRad="76200" dist="38100" dir="8100000" algn="bl" rotWithShape="0">
              <a:srgbClr val="000000">
                <a:alpha val="12000"/>
              </a:srgbClr>
            </a:outerShdw>
          </a:effectLst>
        </p:spPr>
      </p:sp>
      <p:sp>
        <p:nvSpPr>
          <p:cNvPr id="20" name="Text 18"/>
          <p:cNvSpPr/>
          <p:nvPr/>
        </p:nvSpPr>
        <p:spPr>
          <a:xfrm>
            <a:off x="640080" y="3903574"/>
            <a:ext cx="1554480" cy="292608"/>
          </a:xfrm>
          <a:prstGeom prst="rect">
            <a:avLst/>
          </a:prstGeom>
          <a:noFill/>
          <a:ln/>
        </p:spPr>
        <p:txBody>
          <a:bodyPr wrap="square" lIns="0" tIns="0" rIns="0" bIns="0" rtlCol="0" anchor="ctr"/>
          <a:lstStyle/>
          <a:p>
            <a:pPr marL="0" indent="0" algn="ctr">
              <a:buNone/>
            </a:pPr>
            <a:r>
              <a:rPr lang="en-US" sz="1800" b="1" dirty="0">
                <a:solidFill>
                  <a:srgbClr val="FFC000"/>
                </a:solidFill>
                <a:latin typeface="Arial Black" pitchFamily="34" charset="0"/>
                <a:ea typeface="Arial Black" pitchFamily="34" charset="-122"/>
                <a:cs typeface="Arial Black" pitchFamily="34" charset="-120"/>
              </a:rPr>
              <a:t>3</a:t>
            </a:r>
            <a:endParaRPr lang="en-US" sz="1800" dirty="0"/>
          </a:p>
        </p:txBody>
      </p:sp>
      <p:sp>
        <p:nvSpPr>
          <p:cNvPr id="21" name="Text 19"/>
          <p:cNvSpPr/>
          <p:nvPr/>
        </p:nvSpPr>
        <p:spPr>
          <a:xfrm>
            <a:off x="640080" y="3629254"/>
            <a:ext cx="1554480" cy="256032"/>
          </a:xfrm>
          <a:prstGeom prst="rect">
            <a:avLst/>
          </a:prstGeom>
          <a:noFill/>
          <a:ln/>
        </p:spPr>
        <p:txBody>
          <a:bodyPr wrap="square" lIns="0" tIns="0" rIns="0" bIns="0" rtlCol="0" anchor="ctr"/>
          <a:lstStyle/>
          <a:p>
            <a:pPr marL="0" indent="0" algn="ctr">
              <a:buNone/>
            </a:pPr>
            <a:r>
              <a:rPr lang="en-US" sz="1050" dirty="0">
                <a:solidFill>
                  <a:srgbClr val="4A4A6A"/>
                </a:solidFill>
                <a:latin typeface="Arial" pitchFamily="34" charset="0"/>
                <a:ea typeface="Arial" pitchFamily="34" charset="-122"/>
                <a:cs typeface="Arial" pitchFamily="34" charset="-120"/>
              </a:rPr>
              <a:t>5%</a:t>
            </a:r>
            <a:endParaRPr lang="en-US" sz="1050" dirty="0"/>
          </a:p>
        </p:txBody>
      </p:sp>
      <p:sp>
        <p:nvSpPr>
          <p:cNvPr id="22" name="Text 20"/>
          <p:cNvSpPr/>
          <p:nvPr/>
        </p:nvSpPr>
        <p:spPr>
          <a:xfrm>
            <a:off x="640080" y="4315968"/>
            <a:ext cx="155448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Arial" pitchFamily="34" charset="0"/>
                <a:ea typeface="Arial" pitchFamily="34" charset="-122"/>
                <a:cs typeface="Arial" pitchFamily="34" charset="-120"/>
              </a:rPr>
              <a:t>0–50</a:t>
            </a:r>
            <a:endParaRPr lang="en-US" sz="950" dirty="0"/>
          </a:p>
          <a:p>
            <a:pPr marL="0" indent="0" algn="ctr">
              <a:buNone/>
            </a:pPr>
            <a:r>
              <a:rPr lang="en-US" sz="950" b="1" dirty="0">
                <a:solidFill>
                  <a:srgbClr val="1E2761"/>
                </a:solidFill>
                <a:latin typeface="Arial" pitchFamily="34" charset="0"/>
                <a:ea typeface="Arial" pitchFamily="34" charset="-122"/>
                <a:cs typeface="Arial" pitchFamily="34" charset="-120"/>
              </a:rPr>
              <a:t>Low</a:t>
            </a:r>
            <a:endParaRPr lang="en-US" sz="950" dirty="0"/>
          </a:p>
        </p:txBody>
      </p:sp>
      <p:sp>
        <p:nvSpPr>
          <p:cNvPr id="23" name="Shape 21"/>
          <p:cNvSpPr/>
          <p:nvPr/>
        </p:nvSpPr>
        <p:spPr>
          <a:xfrm>
            <a:off x="2743200" y="3857396"/>
            <a:ext cx="1554480" cy="440284"/>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24" name="Text 22"/>
          <p:cNvSpPr/>
          <p:nvPr/>
        </p:nvSpPr>
        <p:spPr>
          <a:xfrm>
            <a:off x="2743200" y="3537356"/>
            <a:ext cx="1554480" cy="292608"/>
          </a:xfrm>
          <a:prstGeom prst="rect">
            <a:avLst/>
          </a:prstGeom>
          <a:noFill/>
          <a:ln/>
        </p:spPr>
        <p:txBody>
          <a:bodyPr wrap="square" lIns="0" tIns="0" rIns="0" bIns="0" rtlCol="0" anchor="ctr"/>
          <a:lstStyle/>
          <a:p>
            <a:pPr marL="0" indent="0" algn="ctr">
              <a:buNone/>
            </a:pPr>
            <a:r>
              <a:rPr lang="en-US" sz="1800" b="1" dirty="0">
                <a:solidFill>
                  <a:srgbClr val="4472C4"/>
                </a:solidFill>
                <a:latin typeface="Arial Black" pitchFamily="34" charset="0"/>
                <a:ea typeface="Arial Black" pitchFamily="34" charset="-122"/>
                <a:cs typeface="Arial Black" pitchFamily="34" charset="-120"/>
              </a:rPr>
              <a:t>18</a:t>
            </a:r>
            <a:endParaRPr lang="en-US" sz="1800" dirty="0"/>
          </a:p>
        </p:txBody>
      </p:sp>
      <p:sp>
        <p:nvSpPr>
          <p:cNvPr id="25" name="Text 23"/>
          <p:cNvSpPr/>
          <p:nvPr/>
        </p:nvSpPr>
        <p:spPr>
          <a:xfrm>
            <a:off x="2743200" y="3263036"/>
            <a:ext cx="1554480" cy="256032"/>
          </a:xfrm>
          <a:prstGeom prst="rect">
            <a:avLst/>
          </a:prstGeom>
          <a:noFill/>
          <a:ln/>
        </p:spPr>
        <p:txBody>
          <a:bodyPr wrap="square" lIns="0" tIns="0" rIns="0" bIns="0" rtlCol="0" anchor="ctr"/>
          <a:lstStyle/>
          <a:p>
            <a:pPr marL="0" indent="0" algn="ctr">
              <a:buNone/>
            </a:pPr>
            <a:r>
              <a:rPr lang="en-US" sz="1050" dirty="0">
                <a:solidFill>
                  <a:srgbClr val="4A4A6A"/>
                </a:solidFill>
                <a:latin typeface="Arial" pitchFamily="34" charset="0"/>
                <a:ea typeface="Arial" pitchFamily="34" charset="-122"/>
                <a:cs typeface="Arial" pitchFamily="34" charset="-120"/>
              </a:rPr>
              <a:t>32%</a:t>
            </a:r>
            <a:endParaRPr lang="en-US" sz="1050" dirty="0"/>
          </a:p>
        </p:txBody>
      </p:sp>
      <p:sp>
        <p:nvSpPr>
          <p:cNvPr id="26" name="Text 24"/>
          <p:cNvSpPr/>
          <p:nvPr/>
        </p:nvSpPr>
        <p:spPr>
          <a:xfrm>
            <a:off x="2743200" y="4315968"/>
            <a:ext cx="155448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Arial" pitchFamily="34" charset="0"/>
                <a:ea typeface="Arial" pitchFamily="34" charset="-122"/>
                <a:cs typeface="Arial" pitchFamily="34" charset="-120"/>
              </a:rPr>
              <a:t>51–80</a:t>
            </a:r>
            <a:endParaRPr lang="en-US" sz="950" dirty="0"/>
          </a:p>
          <a:p>
            <a:pPr marL="0" indent="0" algn="ctr">
              <a:buNone/>
            </a:pPr>
            <a:r>
              <a:rPr lang="en-US" sz="950" b="1" dirty="0">
                <a:solidFill>
                  <a:srgbClr val="1E2761"/>
                </a:solidFill>
                <a:latin typeface="Arial" pitchFamily="34" charset="0"/>
                <a:ea typeface="Arial" pitchFamily="34" charset="-122"/>
                <a:cs typeface="Arial" pitchFamily="34" charset="-120"/>
              </a:rPr>
              <a:t>Medium</a:t>
            </a:r>
            <a:endParaRPr lang="en-US" sz="950" dirty="0"/>
          </a:p>
        </p:txBody>
      </p:sp>
      <p:sp>
        <p:nvSpPr>
          <p:cNvPr id="27" name="Shape 25"/>
          <p:cNvSpPr/>
          <p:nvPr/>
        </p:nvSpPr>
        <p:spPr>
          <a:xfrm>
            <a:off x="4846320" y="3758641"/>
            <a:ext cx="1554480" cy="539039"/>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28" name="Text 26"/>
          <p:cNvSpPr/>
          <p:nvPr/>
        </p:nvSpPr>
        <p:spPr>
          <a:xfrm>
            <a:off x="4846320" y="3438601"/>
            <a:ext cx="1554480" cy="292608"/>
          </a:xfrm>
          <a:prstGeom prst="rect">
            <a:avLst/>
          </a:prstGeom>
          <a:noFill/>
          <a:ln/>
        </p:spPr>
        <p:txBody>
          <a:bodyPr wrap="square" lIns="0" tIns="0" rIns="0" bIns="0" rtlCol="0" anchor="ctr"/>
          <a:lstStyle/>
          <a:p>
            <a:pPr marL="0" indent="0" algn="ctr">
              <a:buNone/>
            </a:pPr>
            <a:r>
              <a:rPr lang="en-US" sz="1800" b="1" dirty="0">
                <a:solidFill>
                  <a:srgbClr val="70AD47"/>
                </a:solidFill>
                <a:latin typeface="Arial Black" pitchFamily="34" charset="0"/>
                <a:ea typeface="Arial Black" pitchFamily="34" charset="-122"/>
                <a:cs typeface="Arial Black" pitchFamily="34" charset="-120"/>
              </a:rPr>
              <a:t>22</a:t>
            </a:r>
            <a:endParaRPr lang="en-US" sz="1800" dirty="0"/>
          </a:p>
        </p:txBody>
      </p:sp>
      <p:sp>
        <p:nvSpPr>
          <p:cNvPr id="29" name="Text 27"/>
          <p:cNvSpPr/>
          <p:nvPr/>
        </p:nvSpPr>
        <p:spPr>
          <a:xfrm>
            <a:off x="4846320" y="3164281"/>
            <a:ext cx="1554480" cy="256032"/>
          </a:xfrm>
          <a:prstGeom prst="rect">
            <a:avLst/>
          </a:prstGeom>
          <a:noFill/>
          <a:ln/>
        </p:spPr>
        <p:txBody>
          <a:bodyPr wrap="square" lIns="0" tIns="0" rIns="0" bIns="0" rtlCol="0" anchor="ctr"/>
          <a:lstStyle/>
          <a:p>
            <a:pPr marL="0" indent="0" algn="ctr">
              <a:buNone/>
            </a:pPr>
            <a:r>
              <a:rPr lang="en-US" sz="1050" dirty="0">
                <a:solidFill>
                  <a:srgbClr val="4A4A6A"/>
                </a:solidFill>
                <a:latin typeface="Arial" pitchFamily="34" charset="0"/>
                <a:ea typeface="Arial" pitchFamily="34" charset="-122"/>
                <a:cs typeface="Arial" pitchFamily="34" charset="-120"/>
              </a:rPr>
              <a:t>39%</a:t>
            </a:r>
            <a:endParaRPr lang="en-US" sz="1050" dirty="0"/>
          </a:p>
        </p:txBody>
      </p:sp>
      <p:sp>
        <p:nvSpPr>
          <p:cNvPr id="30" name="Text 28"/>
          <p:cNvSpPr/>
          <p:nvPr/>
        </p:nvSpPr>
        <p:spPr>
          <a:xfrm>
            <a:off x="4846320" y="4315968"/>
            <a:ext cx="155448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Arial" pitchFamily="34" charset="0"/>
                <a:ea typeface="Arial" pitchFamily="34" charset="-122"/>
                <a:cs typeface="Arial" pitchFamily="34" charset="-120"/>
              </a:rPr>
              <a:t>81–110</a:t>
            </a:r>
            <a:endParaRPr lang="en-US" sz="950" dirty="0"/>
          </a:p>
          <a:p>
            <a:pPr marL="0" indent="0" algn="ctr">
              <a:buNone/>
            </a:pPr>
            <a:r>
              <a:rPr lang="en-US" sz="950" b="1" dirty="0">
                <a:solidFill>
                  <a:srgbClr val="1E2761"/>
                </a:solidFill>
                <a:latin typeface="Arial" pitchFamily="34" charset="0"/>
                <a:ea typeface="Arial" pitchFamily="34" charset="-122"/>
                <a:cs typeface="Arial" pitchFamily="34" charset="-120"/>
              </a:rPr>
              <a:t>High</a:t>
            </a:r>
            <a:endParaRPr lang="en-US" sz="950" dirty="0"/>
          </a:p>
        </p:txBody>
      </p:sp>
      <p:sp>
        <p:nvSpPr>
          <p:cNvPr id="31" name="Shape 29"/>
          <p:cNvSpPr/>
          <p:nvPr/>
        </p:nvSpPr>
        <p:spPr>
          <a:xfrm>
            <a:off x="6949440" y="3979469"/>
            <a:ext cx="1554480" cy="318211"/>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32" name="Text 30"/>
          <p:cNvSpPr/>
          <p:nvPr/>
        </p:nvSpPr>
        <p:spPr>
          <a:xfrm>
            <a:off x="6949440" y="3659429"/>
            <a:ext cx="1554480" cy="292608"/>
          </a:xfrm>
          <a:prstGeom prst="rect">
            <a:avLst/>
          </a:prstGeom>
          <a:noFill/>
          <a:ln/>
        </p:spPr>
        <p:txBody>
          <a:bodyPr wrap="square" lIns="0" tIns="0" rIns="0" bIns="0" rtlCol="0" anchor="ctr"/>
          <a:lstStyle/>
          <a:p>
            <a:pPr marL="0" indent="0" algn="ctr">
              <a:buNone/>
            </a:pPr>
            <a:r>
              <a:rPr lang="en-US" sz="1800" b="1" dirty="0">
                <a:solidFill>
                  <a:srgbClr val="E95B4E"/>
                </a:solidFill>
                <a:latin typeface="Arial Black" pitchFamily="34" charset="0"/>
                <a:ea typeface="Arial Black" pitchFamily="34" charset="-122"/>
                <a:cs typeface="Arial Black" pitchFamily="34" charset="-120"/>
              </a:rPr>
              <a:t>13</a:t>
            </a:r>
            <a:endParaRPr lang="en-US" sz="1800" dirty="0"/>
          </a:p>
        </p:txBody>
      </p:sp>
      <p:sp>
        <p:nvSpPr>
          <p:cNvPr id="33" name="Text 31"/>
          <p:cNvSpPr/>
          <p:nvPr/>
        </p:nvSpPr>
        <p:spPr>
          <a:xfrm>
            <a:off x="6949440" y="3385109"/>
            <a:ext cx="1554480" cy="256032"/>
          </a:xfrm>
          <a:prstGeom prst="rect">
            <a:avLst/>
          </a:prstGeom>
          <a:noFill/>
          <a:ln/>
        </p:spPr>
        <p:txBody>
          <a:bodyPr wrap="square" lIns="0" tIns="0" rIns="0" bIns="0" rtlCol="0" anchor="ctr"/>
          <a:lstStyle/>
          <a:p>
            <a:pPr marL="0" indent="0" algn="ctr">
              <a:buNone/>
            </a:pPr>
            <a:r>
              <a:rPr lang="en-US" sz="1050" dirty="0">
                <a:solidFill>
                  <a:srgbClr val="4A4A6A"/>
                </a:solidFill>
                <a:latin typeface="Arial" pitchFamily="34" charset="0"/>
                <a:ea typeface="Arial" pitchFamily="34" charset="-122"/>
                <a:cs typeface="Arial" pitchFamily="34" charset="-120"/>
              </a:rPr>
              <a:t>23%</a:t>
            </a:r>
            <a:endParaRPr lang="en-US" sz="1050" dirty="0"/>
          </a:p>
        </p:txBody>
      </p:sp>
      <p:sp>
        <p:nvSpPr>
          <p:cNvPr id="34" name="Text 32"/>
          <p:cNvSpPr/>
          <p:nvPr/>
        </p:nvSpPr>
        <p:spPr>
          <a:xfrm>
            <a:off x="6949440" y="4315968"/>
            <a:ext cx="1554480" cy="365760"/>
          </a:xfrm>
          <a:prstGeom prst="rect">
            <a:avLst/>
          </a:prstGeom>
          <a:noFill/>
          <a:ln/>
        </p:spPr>
        <p:txBody>
          <a:bodyPr wrap="square" lIns="0" tIns="0" rIns="0" bIns="0" rtlCol="0" anchor="ctr"/>
          <a:lstStyle/>
          <a:p>
            <a:pPr marL="0" indent="0" algn="ctr">
              <a:buNone/>
            </a:pPr>
            <a:r>
              <a:rPr lang="en-US" sz="950" b="1" dirty="0">
                <a:solidFill>
                  <a:srgbClr val="1E2761"/>
                </a:solidFill>
                <a:latin typeface="Arial" pitchFamily="34" charset="0"/>
                <a:ea typeface="Arial" pitchFamily="34" charset="-122"/>
                <a:cs typeface="Arial" pitchFamily="34" charset="-120"/>
              </a:rPr>
              <a:t>111–163</a:t>
            </a:r>
            <a:endParaRPr lang="en-US" sz="950" dirty="0"/>
          </a:p>
          <a:p>
            <a:pPr marL="0" indent="0" algn="ctr">
              <a:buNone/>
            </a:pPr>
            <a:r>
              <a:rPr lang="en-US" sz="950" b="1" dirty="0">
                <a:solidFill>
                  <a:srgbClr val="1E2761"/>
                </a:solidFill>
                <a:latin typeface="Arial" pitchFamily="34" charset="0"/>
                <a:ea typeface="Arial" pitchFamily="34" charset="-122"/>
                <a:cs typeface="Arial" pitchFamily="34" charset="-120"/>
              </a:rPr>
              <a:t>Very High</a:t>
            </a:r>
            <a:endParaRPr lang="en-US" sz="950" dirty="0"/>
          </a:p>
        </p:txBody>
      </p:sp>
      <p:sp>
        <p:nvSpPr>
          <p:cNvPr id="35" name="Shape 33"/>
          <p:cNvSpPr/>
          <p:nvPr/>
        </p:nvSpPr>
        <p:spPr>
          <a:xfrm>
            <a:off x="274320" y="4736592"/>
            <a:ext cx="8595360" cy="274320"/>
          </a:xfrm>
          <a:prstGeom prst="rect">
            <a:avLst/>
          </a:prstGeom>
          <a:solidFill>
            <a:srgbClr val="BDD7EE">
              <a:alpha val="70000"/>
            </a:srgbClr>
          </a:solidFill>
          <a:ln w="12700">
            <a:solidFill>
              <a:srgbClr val="4472C4"/>
            </a:solidFill>
            <a:prstDash val="solid"/>
          </a:ln>
        </p:spPr>
      </p:sp>
      <p:sp>
        <p:nvSpPr>
          <p:cNvPr id="36" name="Text 34"/>
          <p:cNvSpPr/>
          <p:nvPr/>
        </p:nvSpPr>
        <p:spPr>
          <a:xfrm>
            <a:off x="365760" y="4745736"/>
            <a:ext cx="8412480" cy="256032"/>
          </a:xfrm>
          <a:prstGeom prst="rect">
            <a:avLst/>
          </a:prstGeom>
          <a:noFill/>
          <a:ln/>
        </p:spPr>
        <p:txBody>
          <a:bodyPr wrap="square" lIns="0" tIns="0" rIns="0" bIns="0" rtlCol="0" anchor="ctr"/>
          <a:lstStyle/>
          <a:p>
            <a:pPr marL="0" indent="0">
              <a:buNone/>
            </a:pPr>
            <a:r>
              <a:rPr lang="en-US" sz="1000" b="1" dirty="0">
                <a:latin typeface="Arial" pitchFamily="34" charset="0"/>
                <a:ea typeface="Arial" pitchFamily="34" charset="-122"/>
                <a:cs typeface="Arial" pitchFamily="34" charset="-120"/>
              </a:rPr>
              <a:t>💡  62.5% of leads score above 80 (High/Very High), indicating a quality-screened, engaged applicant pool.</a:t>
            </a:r>
            <a:endParaRPr lang="en-US" sz="1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Verification &amp; Device Insights</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Contact verification quality and registration device split</a:t>
            </a:r>
            <a:endParaRPr lang="en-US" sz="1100" dirty="0"/>
          </a:p>
        </p:txBody>
      </p:sp>
      <p:sp>
        <p:nvSpPr>
          <p:cNvPr id="5" name="Shape 3"/>
          <p:cNvSpPr/>
          <p:nvPr/>
        </p:nvSpPr>
        <p:spPr>
          <a:xfrm>
            <a:off x="274320" y="1143000"/>
            <a:ext cx="8595360" cy="91440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6" name="Text 4"/>
          <p:cNvSpPr/>
          <p:nvPr/>
        </p:nvSpPr>
        <p:spPr>
          <a:xfrm>
            <a:off x="457200" y="1188720"/>
            <a:ext cx="5486400" cy="438912"/>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  Mobile Verification Rate: 100%</a:t>
            </a:r>
            <a:endParaRPr lang="en-US" sz="1800" dirty="0"/>
          </a:p>
        </p:txBody>
      </p:sp>
      <p:sp>
        <p:nvSpPr>
          <p:cNvPr id="7" name="Text 5"/>
          <p:cNvSpPr/>
          <p:nvPr/>
        </p:nvSpPr>
        <p:spPr>
          <a:xfrm>
            <a:off x="457200" y="1609344"/>
            <a:ext cx="6400800" cy="310896"/>
          </a:xfrm>
          <a:prstGeom prst="rect">
            <a:avLst/>
          </a:prstGeom>
          <a:noFill/>
          <a:ln/>
        </p:spPr>
        <p:txBody>
          <a:bodyPr wrap="square" lIns="0" tIns="0" rIns="0" bIns="0" rtlCol="0" anchor="ctr"/>
          <a:lstStyle/>
          <a:p>
            <a:pPr marL="0" indent="0">
              <a:buNone/>
            </a:pPr>
            <a:r>
              <a:rPr lang="en-US" sz="1100" dirty="0">
                <a:solidFill>
                  <a:srgbClr val="CCFFCC"/>
                </a:solidFill>
                <a:latin typeface="Arial" pitchFamily="34" charset="0"/>
                <a:ea typeface="Arial" pitchFamily="34" charset="-122"/>
                <a:cs typeface="Arial" pitchFamily="34" charset="-120"/>
              </a:rPr>
              <a:t>All 56 leads have verified mobile numbers — ensuring high contactability</a:t>
            </a:r>
            <a:endParaRPr lang="en-US" sz="1100" dirty="0"/>
          </a:p>
        </p:txBody>
      </p:sp>
      <p:sp>
        <p:nvSpPr>
          <p:cNvPr id="8" name="Text 6"/>
          <p:cNvSpPr/>
          <p:nvPr/>
        </p:nvSpPr>
        <p:spPr>
          <a:xfrm>
            <a:off x="7132320" y="1170432"/>
            <a:ext cx="164592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56/56</a:t>
            </a:r>
            <a:endParaRPr lang="en-US" sz="2800" dirty="0"/>
          </a:p>
        </p:txBody>
      </p:sp>
      <p:sp>
        <p:nvSpPr>
          <p:cNvPr id="9" name="Shape 7"/>
          <p:cNvSpPr/>
          <p:nvPr/>
        </p:nvSpPr>
        <p:spPr>
          <a:xfrm>
            <a:off x="274320" y="2240280"/>
            <a:ext cx="4114800" cy="251460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10" name="Text 8"/>
          <p:cNvSpPr/>
          <p:nvPr/>
        </p:nvSpPr>
        <p:spPr>
          <a:xfrm>
            <a:off x="365760" y="2331720"/>
            <a:ext cx="3840480" cy="347472"/>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Email Verification</a:t>
            </a:r>
            <a:endParaRPr lang="en-US" sz="1300" dirty="0"/>
          </a:p>
        </p:txBody>
      </p:sp>
      <p:sp>
        <p:nvSpPr>
          <p:cNvPr id="11" name="Shape 9"/>
          <p:cNvSpPr/>
          <p:nvPr/>
        </p:nvSpPr>
        <p:spPr>
          <a:xfrm>
            <a:off x="457200" y="2788920"/>
            <a:ext cx="3749040" cy="50292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12" name="Text 10"/>
          <p:cNvSpPr/>
          <p:nvPr/>
        </p:nvSpPr>
        <p:spPr>
          <a:xfrm>
            <a:off x="502920" y="2834640"/>
            <a:ext cx="3657600" cy="411480"/>
          </a:xfrm>
          <a:prstGeom prst="rect">
            <a:avLst/>
          </a:prstGeom>
          <a:noFill/>
          <a:ln/>
        </p:spPr>
        <p:txBody>
          <a:bodyPr wrap="square" lIns="25400" tIns="25400" rIns="25400" bIns="2540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Verified  •  31 leads  •  55.4%</a:t>
            </a:r>
            <a:endParaRPr lang="en-US" sz="1200" dirty="0"/>
          </a:p>
        </p:txBody>
      </p:sp>
      <p:sp>
        <p:nvSpPr>
          <p:cNvPr id="13" name="Shape 11"/>
          <p:cNvSpPr/>
          <p:nvPr/>
        </p:nvSpPr>
        <p:spPr>
          <a:xfrm>
            <a:off x="457200" y="3429000"/>
            <a:ext cx="3749040" cy="502920"/>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14" name="Text 12"/>
          <p:cNvSpPr/>
          <p:nvPr/>
        </p:nvSpPr>
        <p:spPr>
          <a:xfrm>
            <a:off x="502920" y="3474720"/>
            <a:ext cx="3657600" cy="411480"/>
          </a:xfrm>
          <a:prstGeom prst="rect">
            <a:avLst/>
          </a:prstGeom>
          <a:noFill/>
          <a:ln/>
        </p:spPr>
        <p:txBody>
          <a:bodyPr wrap="square" lIns="25400" tIns="25400" rIns="25400" bIns="2540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 Verified  •  25 leads  •  44.6%</a:t>
            </a:r>
            <a:endParaRPr lang="en-US" sz="1200" dirty="0"/>
          </a:p>
        </p:txBody>
      </p:sp>
      <p:sp>
        <p:nvSpPr>
          <p:cNvPr id="15" name="Shape 13"/>
          <p:cNvSpPr/>
          <p:nvPr/>
        </p:nvSpPr>
        <p:spPr>
          <a:xfrm>
            <a:off x="365760" y="4069080"/>
            <a:ext cx="3840480" cy="548640"/>
          </a:xfrm>
          <a:prstGeom prst="rect">
            <a:avLst/>
          </a:prstGeom>
          <a:solidFill>
            <a:srgbClr val="FFF3CD"/>
          </a:solidFill>
          <a:ln w="12700">
            <a:solidFill>
              <a:srgbClr val="FFC000"/>
            </a:solidFill>
            <a:prstDash val="solid"/>
          </a:ln>
        </p:spPr>
      </p:sp>
      <p:sp>
        <p:nvSpPr>
          <p:cNvPr id="16" name="Text 14"/>
          <p:cNvSpPr/>
          <p:nvPr/>
        </p:nvSpPr>
        <p:spPr>
          <a:xfrm>
            <a:off x="411480" y="4087368"/>
            <a:ext cx="3749040" cy="502920"/>
          </a:xfrm>
          <a:prstGeom prst="rect">
            <a:avLst/>
          </a:prstGeom>
          <a:noFill/>
          <a:ln/>
        </p:spPr>
        <p:txBody>
          <a:bodyPr wrap="square" lIns="0" tIns="0" rIns="0" bIns="0" rtlCol="0" anchor="ctr"/>
          <a:lstStyle/>
          <a:p>
            <a:pPr marL="0" indent="0">
              <a:buNone/>
            </a:pPr>
            <a:r>
              <a:rPr lang="en-US" sz="1000" b="1" dirty="0">
                <a:latin typeface="Arial" pitchFamily="34" charset="0"/>
                <a:ea typeface="Arial" pitchFamily="34" charset="-122"/>
                <a:cs typeface="Arial" pitchFamily="34" charset="-120"/>
              </a:rPr>
              <a:t>⚠️  Nearly half the leads lack verified emails. Email campaigns may have low deliverability for 25 leads.</a:t>
            </a:r>
            <a:endParaRPr lang="en-US" sz="1000" b="1" dirty="0"/>
          </a:p>
        </p:txBody>
      </p:sp>
      <p:sp>
        <p:nvSpPr>
          <p:cNvPr id="17" name="Shape 15"/>
          <p:cNvSpPr/>
          <p:nvPr/>
        </p:nvSpPr>
        <p:spPr>
          <a:xfrm>
            <a:off x="4663440" y="2240280"/>
            <a:ext cx="4206240" cy="2514600"/>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18" name="Text 16"/>
          <p:cNvSpPr/>
          <p:nvPr/>
        </p:nvSpPr>
        <p:spPr>
          <a:xfrm>
            <a:off x="4754880" y="2331720"/>
            <a:ext cx="4023360" cy="347472"/>
          </a:xfrm>
          <a:prstGeom prst="rect">
            <a:avLst/>
          </a:prstGeom>
          <a:noFill/>
          <a:ln/>
        </p:spPr>
        <p:txBody>
          <a:bodyPr wrap="square" lIns="0" tIns="0" rIns="0" bIns="0" rtlCol="0" anchor="ctr"/>
          <a:lstStyle/>
          <a:p>
            <a:pPr marL="0" indent="0" algn="ctr">
              <a:buNone/>
            </a:pPr>
            <a:r>
              <a:rPr lang="en-US" sz="1200" b="1" dirty="0">
                <a:solidFill>
                  <a:srgbClr val="1E2761"/>
                </a:solidFill>
                <a:latin typeface="Arial Black" pitchFamily="34" charset="0"/>
                <a:ea typeface="Arial Black" pitchFamily="34" charset="-122"/>
                <a:cs typeface="Arial Black" pitchFamily="34" charset="-120"/>
              </a:rPr>
              <a:t>Registration Device (Online Leads)</a:t>
            </a:r>
            <a:endParaRPr lang="en-US" sz="1200" dirty="0"/>
          </a:p>
        </p:txBody>
      </p:sp>
      <p:sp>
        <p:nvSpPr>
          <p:cNvPr id="19" name="Shape 17"/>
          <p:cNvSpPr/>
          <p:nvPr/>
        </p:nvSpPr>
        <p:spPr>
          <a:xfrm>
            <a:off x="4754880" y="2816352"/>
            <a:ext cx="3840480" cy="548640"/>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20" name="Text 18"/>
          <p:cNvSpPr/>
          <p:nvPr/>
        </p:nvSpPr>
        <p:spPr>
          <a:xfrm>
            <a:off x="4846320" y="2862072"/>
            <a:ext cx="3657600" cy="438912"/>
          </a:xfrm>
          <a:prstGeom prst="rect">
            <a:avLst/>
          </a:prstGeom>
          <a:noFill/>
          <a:ln/>
        </p:spPr>
        <p:txBody>
          <a:bodyPr wrap="square" lIns="25400" tIns="25400" rIns="25400" bIns="25400" rtlCol="0" anchor="ctr"/>
          <a:lstStyle/>
          <a:p>
            <a:pPr marL="0" indent="0">
              <a:buNone/>
            </a:pPr>
            <a:r>
              <a:rPr lang="en-US" sz="1300" b="1" dirty="0">
                <a:solidFill>
                  <a:srgbClr val="FFFFFF"/>
                </a:solidFill>
                <a:latin typeface="Arial" pitchFamily="34" charset="0"/>
                <a:ea typeface="Arial" pitchFamily="34" charset="-122"/>
                <a:cs typeface="Arial" pitchFamily="34" charset="-120"/>
              </a:rPr>
              <a:t>🖥  Desktop   21 leads   91.3%</a:t>
            </a:r>
            <a:endParaRPr lang="en-US" sz="1300" dirty="0"/>
          </a:p>
        </p:txBody>
      </p:sp>
      <p:sp>
        <p:nvSpPr>
          <p:cNvPr id="21" name="Shape 19"/>
          <p:cNvSpPr/>
          <p:nvPr/>
        </p:nvSpPr>
        <p:spPr>
          <a:xfrm>
            <a:off x="4754880" y="3511296"/>
            <a:ext cx="3840480" cy="548640"/>
          </a:xfrm>
          <a:prstGeom prst="rect">
            <a:avLst/>
          </a:prstGeom>
          <a:solidFill>
            <a:srgbClr val="028090"/>
          </a:solidFill>
          <a:ln w="12700">
            <a:solidFill>
              <a:srgbClr val="028090"/>
            </a:solidFill>
            <a:prstDash val="solid"/>
          </a:ln>
          <a:effectLst>
            <a:outerShdw blurRad="76200" dist="38100" dir="8100000" algn="bl" rotWithShape="0">
              <a:srgbClr val="000000">
                <a:alpha val="12000"/>
              </a:srgbClr>
            </a:outerShdw>
          </a:effectLst>
        </p:spPr>
      </p:sp>
      <p:sp>
        <p:nvSpPr>
          <p:cNvPr id="22" name="Text 20"/>
          <p:cNvSpPr/>
          <p:nvPr/>
        </p:nvSpPr>
        <p:spPr>
          <a:xfrm>
            <a:off x="4846320" y="3557016"/>
            <a:ext cx="3657600" cy="438912"/>
          </a:xfrm>
          <a:prstGeom prst="rect">
            <a:avLst/>
          </a:prstGeom>
          <a:noFill/>
          <a:ln/>
        </p:spPr>
        <p:txBody>
          <a:bodyPr wrap="square" lIns="25400" tIns="25400" rIns="25400" bIns="25400" rtlCol="0" anchor="ctr"/>
          <a:lstStyle/>
          <a:p>
            <a:pPr marL="0" indent="0">
              <a:buNone/>
            </a:pPr>
            <a:r>
              <a:rPr lang="en-US" sz="1300" b="1" dirty="0">
                <a:solidFill>
                  <a:srgbClr val="FFFFFF"/>
                </a:solidFill>
                <a:latin typeface="Arial" pitchFamily="34" charset="0"/>
                <a:ea typeface="Arial" pitchFamily="34" charset="-122"/>
                <a:cs typeface="Arial" pitchFamily="34" charset="-120"/>
              </a:rPr>
              <a:t>📱  Mobile     2 leads     8.7%</a:t>
            </a:r>
            <a:endParaRPr lang="en-US" sz="1300" dirty="0"/>
          </a:p>
        </p:txBody>
      </p:sp>
      <p:sp>
        <p:nvSpPr>
          <p:cNvPr id="23" name="Shape 21"/>
          <p:cNvSpPr/>
          <p:nvPr/>
        </p:nvSpPr>
        <p:spPr>
          <a:xfrm>
            <a:off x="4754880" y="4206240"/>
            <a:ext cx="3840480" cy="457200"/>
          </a:xfrm>
          <a:prstGeom prst="rect">
            <a:avLst/>
          </a:prstGeom>
          <a:solidFill>
            <a:srgbClr val="F5F7FA"/>
          </a:solidFill>
          <a:ln w="12700">
            <a:solidFill>
              <a:srgbClr val="BDD7EE"/>
            </a:solidFill>
            <a:prstDash val="solid"/>
          </a:ln>
        </p:spPr>
      </p:sp>
      <p:sp>
        <p:nvSpPr>
          <p:cNvPr id="24" name="Text 22"/>
          <p:cNvSpPr/>
          <p:nvPr/>
        </p:nvSpPr>
        <p:spPr>
          <a:xfrm>
            <a:off x="4800600" y="4224528"/>
            <a:ext cx="3749040" cy="402336"/>
          </a:xfrm>
          <a:prstGeom prst="rect">
            <a:avLst/>
          </a:prstGeom>
          <a:noFill/>
          <a:ln/>
        </p:spPr>
        <p:txBody>
          <a:bodyPr wrap="square" lIns="0" tIns="0" rIns="0" bIns="0" rtlCol="0" anchor="ctr"/>
          <a:lstStyle/>
          <a:p>
            <a:pPr marL="0" indent="0">
              <a:buNone/>
            </a:pPr>
            <a:r>
              <a:rPr lang="en-US" sz="1000" b="1" dirty="0">
                <a:latin typeface="Arial" pitchFamily="34" charset="0"/>
                <a:ea typeface="Arial" pitchFamily="34" charset="-122"/>
                <a:cs typeface="Arial" pitchFamily="34" charset="-120"/>
              </a:rPr>
              <a:t>API-origin leads have no device recorded (33 leads) — device tracking is only available for Online leads.</a:t>
            </a:r>
            <a:endParaRPr lang="en-US" sz="10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Monthly Lead Trend</a:t>
            </a:r>
            <a:endParaRPr lang="en-US" sz="2200" dirty="0"/>
          </a:p>
        </p:txBody>
      </p:sp>
      <p:sp>
        <p:nvSpPr>
          <p:cNvPr id="4" name="Text 2"/>
          <p:cNvSpPr/>
          <p:nvPr/>
        </p:nvSpPr>
        <p:spPr>
          <a:xfrm>
            <a:off x="411480" y="612648"/>
            <a:ext cx="7315200" cy="329184"/>
          </a:xfrm>
          <a:prstGeom prst="rect">
            <a:avLst/>
          </a:prstGeom>
          <a:noFill/>
          <a:ln/>
        </p:spPr>
        <p:txBody>
          <a:bodyPr wrap="square" lIns="0" tIns="0" rIns="0" bIns="0" rtlCol="0" anchor="ctr"/>
          <a:lstStyle/>
          <a:p>
            <a:pPr marL="0" indent="0">
              <a:buNone/>
            </a:pPr>
            <a:r>
              <a:rPr lang="en-US" sz="1100" dirty="0">
                <a:solidFill>
                  <a:srgbClr val="BDD7EE"/>
                </a:solidFill>
                <a:latin typeface="Arial" pitchFamily="34" charset="0"/>
                <a:ea typeface="Arial" pitchFamily="34" charset="-122"/>
                <a:cs typeface="Arial" pitchFamily="34" charset="-120"/>
              </a:rPr>
              <a:t>Lead inflow pattern from April to August 2025</a:t>
            </a:r>
            <a:endParaRPr lang="en-US" sz="1100" dirty="0"/>
          </a:p>
        </p:txBody>
      </p:sp>
      <p:sp>
        <p:nvSpPr>
          <p:cNvPr id="5" name="Shape 3"/>
          <p:cNvSpPr/>
          <p:nvPr/>
        </p:nvSpPr>
        <p:spPr>
          <a:xfrm>
            <a:off x="274320" y="1143000"/>
            <a:ext cx="4114800" cy="3250338"/>
          </a:xfrm>
          <a:prstGeom prst="rect">
            <a:avLst/>
          </a:prstGeom>
          <a:solidFill>
            <a:srgbClr val="FFFFFF"/>
          </a:solidFill>
          <a:ln w="12700">
            <a:solidFill>
              <a:srgbClr val="BDD7EE"/>
            </a:solidFill>
            <a:prstDash val="solid"/>
          </a:ln>
          <a:effectLst>
            <a:outerShdw blurRad="76200" dist="38100" dir="8100000" algn="bl" rotWithShape="0">
              <a:srgbClr val="000000">
                <a:alpha val="12000"/>
              </a:srgbClr>
            </a:outerShdw>
          </a:effectLst>
        </p:spPr>
      </p:sp>
      <p:sp>
        <p:nvSpPr>
          <p:cNvPr id="6" name="Text 4"/>
          <p:cNvSpPr/>
          <p:nvPr/>
        </p:nvSpPr>
        <p:spPr>
          <a:xfrm>
            <a:off x="365760" y="1234440"/>
            <a:ext cx="4385229" cy="347472"/>
          </a:xfrm>
          <a:prstGeom prst="rect">
            <a:avLst/>
          </a:prstGeom>
          <a:noFill/>
          <a:ln/>
        </p:spPr>
        <p:txBody>
          <a:bodyPr wrap="square" lIns="0" tIns="0" rIns="0" bIns="0" rtlCol="0" anchor="ctr"/>
          <a:lstStyle/>
          <a:p>
            <a:pPr marL="0" indent="0" algn="ctr">
              <a:buNone/>
            </a:pPr>
            <a:r>
              <a:rPr lang="en-US" sz="1300" b="1" dirty="0">
                <a:solidFill>
                  <a:srgbClr val="1E2761"/>
                </a:solidFill>
                <a:latin typeface="Arial Black" pitchFamily="34" charset="0"/>
                <a:ea typeface="Arial Black" pitchFamily="34" charset="-122"/>
                <a:cs typeface="Arial Black" pitchFamily="34" charset="-120"/>
              </a:rPr>
              <a:t>Monthly Lead Inflow (Apr–Aug 2025)</a:t>
            </a:r>
            <a:endParaRPr lang="en-US" sz="1300" dirty="0"/>
          </a:p>
        </p:txBody>
      </p:sp>
      <p:sp>
        <p:nvSpPr>
          <p:cNvPr id="7" name="Shape 5"/>
          <p:cNvSpPr/>
          <p:nvPr/>
        </p:nvSpPr>
        <p:spPr>
          <a:xfrm>
            <a:off x="548640" y="2835343"/>
            <a:ext cx="411480" cy="1160585"/>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8" name="Text 6"/>
          <p:cNvSpPr/>
          <p:nvPr/>
        </p:nvSpPr>
        <p:spPr>
          <a:xfrm>
            <a:off x="182880" y="2492443"/>
            <a:ext cx="1188720" cy="274320"/>
          </a:xfrm>
          <a:prstGeom prst="rect">
            <a:avLst/>
          </a:prstGeom>
          <a:noFill/>
          <a:ln/>
        </p:spPr>
        <p:txBody>
          <a:bodyPr wrap="square" lIns="0" tIns="0" rIns="0" bIns="0" rtlCol="0" anchor="ctr"/>
          <a:lstStyle/>
          <a:p>
            <a:pPr marL="0" indent="0" algn="ctr">
              <a:buNone/>
            </a:pPr>
            <a:r>
              <a:rPr lang="en-US" sz="1600" b="1" dirty="0">
                <a:solidFill>
                  <a:srgbClr val="4472C4"/>
                </a:solidFill>
                <a:latin typeface="Arial Black" pitchFamily="34" charset="0"/>
                <a:ea typeface="Arial Black" pitchFamily="34" charset="-122"/>
                <a:cs typeface="Arial Black" pitchFamily="34" charset="-120"/>
              </a:rPr>
              <a:t>15</a:t>
            </a:r>
            <a:endParaRPr lang="en-US" sz="1600" dirty="0"/>
          </a:p>
        </p:txBody>
      </p:sp>
      <p:sp>
        <p:nvSpPr>
          <p:cNvPr id="9" name="Text 7"/>
          <p:cNvSpPr/>
          <p:nvPr/>
        </p:nvSpPr>
        <p:spPr>
          <a:xfrm>
            <a:off x="442122" y="4031094"/>
            <a:ext cx="619652" cy="256032"/>
          </a:xfrm>
          <a:prstGeom prst="rect">
            <a:avLst/>
          </a:prstGeom>
          <a:noFill/>
          <a:ln/>
        </p:spPr>
        <p:txBody>
          <a:bodyPr wrap="square" lIns="0" tIns="0" rIns="0" bIns="0" rtlCol="0" anchor="ctr"/>
          <a:lstStyle/>
          <a:p>
            <a:pPr marL="0" indent="0" algn="ctr">
              <a:buNone/>
            </a:pPr>
            <a:r>
              <a:rPr lang="en-US" sz="1050" b="1" dirty="0">
                <a:solidFill>
                  <a:srgbClr val="1E2761"/>
                </a:solidFill>
                <a:latin typeface="Arial" pitchFamily="34" charset="0"/>
                <a:ea typeface="Arial" pitchFamily="34" charset="-122"/>
                <a:cs typeface="Arial" pitchFamily="34" charset="-120"/>
              </a:rPr>
              <a:t>Apr '25</a:t>
            </a:r>
            <a:endParaRPr lang="en-US" sz="1050" dirty="0"/>
          </a:p>
        </p:txBody>
      </p:sp>
      <p:sp>
        <p:nvSpPr>
          <p:cNvPr id="10" name="Shape 8"/>
          <p:cNvSpPr/>
          <p:nvPr/>
        </p:nvSpPr>
        <p:spPr>
          <a:xfrm>
            <a:off x="1207427" y="1984248"/>
            <a:ext cx="357978" cy="2011680"/>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11" name="Text 9"/>
          <p:cNvSpPr/>
          <p:nvPr/>
        </p:nvSpPr>
        <p:spPr>
          <a:xfrm>
            <a:off x="777240" y="1708345"/>
            <a:ext cx="1188720" cy="274320"/>
          </a:xfrm>
          <a:prstGeom prst="rect">
            <a:avLst/>
          </a:prstGeom>
          <a:noFill/>
          <a:ln/>
        </p:spPr>
        <p:txBody>
          <a:bodyPr wrap="square" lIns="0" tIns="0" rIns="0" bIns="0" rtlCol="0" anchor="ctr"/>
          <a:lstStyle/>
          <a:p>
            <a:pPr marL="0" indent="0" algn="ctr">
              <a:buNone/>
            </a:pPr>
            <a:r>
              <a:rPr lang="en-US" sz="1600" b="1" dirty="0">
                <a:solidFill>
                  <a:srgbClr val="E95B4E"/>
                </a:solidFill>
                <a:latin typeface="Arial Black" pitchFamily="34" charset="0"/>
                <a:ea typeface="Arial Black" pitchFamily="34" charset="-122"/>
                <a:cs typeface="Arial Black" pitchFamily="34" charset="-120"/>
              </a:rPr>
              <a:t>26</a:t>
            </a:r>
            <a:endParaRPr lang="en-US" sz="1600" dirty="0"/>
          </a:p>
        </p:txBody>
      </p:sp>
      <p:sp>
        <p:nvSpPr>
          <p:cNvPr id="12" name="Text 10"/>
          <p:cNvSpPr/>
          <p:nvPr/>
        </p:nvSpPr>
        <p:spPr>
          <a:xfrm>
            <a:off x="1041421" y="4041646"/>
            <a:ext cx="619652" cy="256032"/>
          </a:xfrm>
          <a:prstGeom prst="rect">
            <a:avLst/>
          </a:prstGeom>
          <a:noFill/>
          <a:ln/>
        </p:spPr>
        <p:txBody>
          <a:bodyPr wrap="square" lIns="0" tIns="0" rIns="0" bIns="0" rtlCol="0" anchor="ctr"/>
          <a:lstStyle/>
          <a:p>
            <a:pPr marL="0" indent="0" algn="ctr">
              <a:buNone/>
            </a:pPr>
            <a:r>
              <a:rPr lang="en-US" sz="1050" b="1" dirty="0">
                <a:solidFill>
                  <a:srgbClr val="1E2761"/>
                </a:solidFill>
                <a:latin typeface="Arial" pitchFamily="34" charset="0"/>
                <a:ea typeface="Arial" pitchFamily="34" charset="-122"/>
                <a:cs typeface="Arial" pitchFamily="34" charset="-120"/>
              </a:rPr>
              <a:t>May '25</a:t>
            </a:r>
            <a:endParaRPr lang="en-US" sz="1050" dirty="0"/>
          </a:p>
        </p:txBody>
      </p:sp>
      <p:sp>
        <p:nvSpPr>
          <p:cNvPr id="13" name="Shape 11"/>
          <p:cNvSpPr/>
          <p:nvPr/>
        </p:nvSpPr>
        <p:spPr>
          <a:xfrm>
            <a:off x="1893227" y="3380467"/>
            <a:ext cx="357978" cy="618978"/>
          </a:xfrm>
          <a:prstGeom prst="rect">
            <a:avLst/>
          </a:prstGeom>
          <a:solidFill>
            <a:srgbClr val="028090"/>
          </a:solidFill>
          <a:ln w="12700">
            <a:solidFill>
              <a:srgbClr val="028090"/>
            </a:solidFill>
            <a:prstDash val="solid"/>
          </a:ln>
          <a:effectLst>
            <a:outerShdw blurRad="76200" dist="38100" dir="8100000" algn="bl" rotWithShape="0">
              <a:srgbClr val="000000">
                <a:alpha val="12000"/>
              </a:srgbClr>
            </a:outerShdw>
          </a:effectLst>
        </p:spPr>
      </p:sp>
      <p:sp>
        <p:nvSpPr>
          <p:cNvPr id="14" name="Text 12"/>
          <p:cNvSpPr/>
          <p:nvPr/>
        </p:nvSpPr>
        <p:spPr>
          <a:xfrm>
            <a:off x="1496825" y="3067462"/>
            <a:ext cx="1188720" cy="274320"/>
          </a:xfrm>
          <a:prstGeom prst="rect">
            <a:avLst/>
          </a:prstGeom>
          <a:noFill/>
          <a:ln/>
        </p:spPr>
        <p:txBody>
          <a:bodyPr wrap="square" lIns="0" tIns="0" rIns="0" bIns="0" rtlCol="0" anchor="ctr"/>
          <a:lstStyle/>
          <a:p>
            <a:pPr marL="0" indent="0" algn="ctr">
              <a:buNone/>
            </a:pPr>
            <a:r>
              <a:rPr lang="en-US" sz="1600" b="1" dirty="0">
                <a:solidFill>
                  <a:srgbClr val="028090"/>
                </a:solidFill>
                <a:latin typeface="Arial Black" pitchFamily="34" charset="0"/>
                <a:ea typeface="Arial Black" pitchFamily="34" charset="-122"/>
                <a:cs typeface="Arial Black" pitchFamily="34" charset="-120"/>
              </a:rPr>
              <a:t>8</a:t>
            </a:r>
            <a:endParaRPr lang="en-US" sz="1600" dirty="0"/>
          </a:p>
        </p:txBody>
      </p:sp>
      <p:sp>
        <p:nvSpPr>
          <p:cNvPr id="15" name="Text 13"/>
          <p:cNvSpPr/>
          <p:nvPr/>
        </p:nvSpPr>
        <p:spPr>
          <a:xfrm>
            <a:off x="1717007" y="4041645"/>
            <a:ext cx="619652" cy="256032"/>
          </a:xfrm>
          <a:prstGeom prst="rect">
            <a:avLst/>
          </a:prstGeom>
          <a:noFill/>
          <a:ln/>
        </p:spPr>
        <p:txBody>
          <a:bodyPr wrap="square" lIns="0" tIns="0" rIns="0" bIns="0" rtlCol="0" anchor="ctr"/>
          <a:lstStyle/>
          <a:p>
            <a:pPr marL="0" indent="0" algn="ctr">
              <a:buNone/>
            </a:pPr>
            <a:r>
              <a:rPr lang="en-US" sz="1050" b="1" dirty="0">
                <a:solidFill>
                  <a:srgbClr val="1E2761"/>
                </a:solidFill>
                <a:latin typeface="Arial" pitchFamily="34" charset="0"/>
                <a:ea typeface="Arial" pitchFamily="34" charset="-122"/>
                <a:cs typeface="Arial" pitchFamily="34" charset="-120"/>
              </a:rPr>
              <a:t>Jun '25</a:t>
            </a:r>
            <a:endParaRPr lang="en-US" sz="1050" dirty="0"/>
          </a:p>
        </p:txBody>
      </p:sp>
      <p:sp>
        <p:nvSpPr>
          <p:cNvPr id="16" name="Shape 14"/>
          <p:cNvSpPr/>
          <p:nvPr/>
        </p:nvSpPr>
        <p:spPr>
          <a:xfrm>
            <a:off x="2498512" y="3531694"/>
            <a:ext cx="357978" cy="464234"/>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17" name="Text 15"/>
          <p:cNvSpPr/>
          <p:nvPr/>
        </p:nvSpPr>
        <p:spPr>
          <a:xfrm>
            <a:off x="2072216" y="3242252"/>
            <a:ext cx="1188720" cy="274320"/>
          </a:xfrm>
          <a:prstGeom prst="rect">
            <a:avLst/>
          </a:prstGeom>
          <a:noFill/>
          <a:ln/>
        </p:spPr>
        <p:txBody>
          <a:bodyPr wrap="square" lIns="0" tIns="0" rIns="0" bIns="0" rtlCol="0" anchor="ctr"/>
          <a:lstStyle/>
          <a:p>
            <a:pPr marL="0" indent="0" algn="ctr">
              <a:buNone/>
            </a:pPr>
            <a:r>
              <a:rPr lang="en-US" sz="1600" b="1" dirty="0">
                <a:solidFill>
                  <a:srgbClr val="70AD47"/>
                </a:solidFill>
                <a:latin typeface="Arial Black" pitchFamily="34" charset="0"/>
                <a:ea typeface="Arial Black" pitchFamily="34" charset="-122"/>
                <a:cs typeface="Arial Black" pitchFamily="34" charset="-120"/>
              </a:rPr>
              <a:t>6</a:t>
            </a:r>
            <a:endParaRPr lang="en-US" sz="1600" dirty="0"/>
          </a:p>
        </p:txBody>
      </p:sp>
      <p:sp>
        <p:nvSpPr>
          <p:cNvPr id="18" name="Text 16"/>
          <p:cNvSpPr/>
          <p:nvPr/>
        </p:nvSpPr>
        <p:spPr>
          <a:xfrm>
            <a:off x="2278498" y="4031094"/>
            <a:ext cx="619652" cy="256032"/>
          </a:xfrm>
          <a:prstGeom prst="rect">
            <a:avLst/>
          </a:prstGeom>
          <a:noFill/>
          <a:ln/>
        </p:spPr>
        <p:txBody>
          <a:bodyPr wrap="square" lIns="0" tIns="0" rIns="0" bIns="0" rtlCol="0" anchor="ctr"/>
          <a:lstStyle/>
          <a:p>
            <a:pPr marL="0" indent="0" algn="ctr">
              <a:buNone/>
            </a:pPr>
            <a:r>
              <a:rPr lang="en-US" sz="1050" b="1" dirty="0">
                <a:solidFill>
                  <a:srgbClr val="1E2761"/>
                </a:solidFill>
                <a:latin typeface="Arial" pitchFamily="34" charset="0"/>
                <a:ea typeface="Arial" pitchFamily="34" charset="-122"/>
                <a:cs typeface="Arial" pitchFamily="34" charset="-120"/>
              </a:rPr>
              <a:t>Jul '25</a:t>
            </a:r>
            <a:endParaRPr lang="en-US" sz="1050" dirty="0"/>
          </a:p>
        </p:txBody>
      </p:sp>
      <p:sp>
        <p:nvSpPr>
          <p:cNvPr id="19" name="Shape 17"/>
          <p:cNvSpPr/>
          <p:nvPr/>
        </p:nvSpPr>
        <p:spPr>
          <a:xfrm>
            <a:off x="3108249" y="3922073"/>
            <a:ext cx="357978" cy="77372"/>
          </a:xfrm>
          <a:prstGeom prst="rect">
            <a:avLst/>
          </a:prstGeom>
          <a:solidFill>
            <a:srgbClr val="FFC000"/>
          </a:solidFill>
          <a:ln w="12700">
            <a:solidFill>
              <a:srgbClr val="FFC000"/>
            </a:solidFill>
            <a:prstDash val="solid"/>
          </a:ln>
          <a:effectLst>
            <a:outerShdw blurRad="76200" dist="38100" dir="8100000" algn="bl" rotWithShape="0">
              <a:srgbClr val="000000">
                <a:alpha val="12000"/>
              </a:srgbClr>
            </a:outerShdw>
          </a:effectLst>
        </p:spPr>
      </p:sp>
      <p:sp>
        <p:nvSpPr>
          <p:cNvPr id="20" name="Text 18"/>
          <p:cNvSpPr/>
          <p:nvPr/>
        </p:nvSpPr>
        <p:spPr>
          <a:xfrm>
            <a:off x="2692878" y="3661821"/>
            <a:ext cx="1188720" cy="274320"/>
          </a:xfrm>
          <a:prstGeom prst="rect">
            <a:avLst/>
          </a:prstGeom>
          <a:noFill/>
          <a:ln/>
        </p:spPr>
        <p:txBody>
          <a:bodyPr wrap="square" lIns="0" tIns="0" rIns="0" bIns="0" rtlCol="0" anchor="ctr"/>
          <a:lstStyle/>
          <a:p>
            <a:pPr marL="0" indent="0" algn="ctr">
              <a:buNone/>
            </a:pPr>
            <a:r>
              <a:rPr lang="en-US" sz="1600" b="1" dirty="0">
                <a:solidFill>
                  <a:srgbClr val="FFC000"/>
                </a:solidFill>
                <a:latin typeface="Arial Black" pitchFamily="34" charset="0"/>
                <a:ea typeface="Arial Black" pitchFamily="34" charset="-122"/>
                <a:cs typeface="Arial Black" pitchFamily="34" charset="-120"/>
              </a:rPr>
              <a:t>1</a:t>
            </a:r>
            <a:endParaRPr lang="en-US" sz="1600" dirty="0"/>
          </a:p>
        </p:txBody>
      </p:sp>
      <p:sp>
        <p:nvSpPr>
          <p:cNvPr id="21" name="Text 19"/>
          <p:cNvSpPr/>
          <p:nvPr/>
        </p:nvSpPr>
        <p:spPr>
          <a:xfrm>
            <a:off x="2977412" y="4031095"/>
            <a:ext cx="619652" cy="256032"/>
          </a:xfrm>
          <a:prstGeom prst="rect">
            <a:avLst/>
          </a:prstGeom>
          <a:noFill/>
          <a:ln/>
        </p:spPr>
        <p:txBody>
          <a:bodyPr wrap="square" lIns="0" tIns="0" rIns="0" bIns="0" rtlCol="0" anchor="ctr"/>
          <a:lstStyle/>
          <a:p>
            <a:pPr marL="0" indent="0" algn="ctr">
              <a:buNone/>
            </a:pPr>
            <a:r>
              <a:rPr lang="en-US" sz="1050" b="1" dirty="0">
                <a:solidFill>
                  <a:srgbClr val="1E2761"/>
                </a:solidFill>
                <a:latin typeface="Arial" pitchFamily="34" charset="0"/>
                <a:ea typeface="Arial" pitchFamily="34" charset="-122"/>
                <a:cs typeface="Arial" pitchFamily="34" charset="-120"/>
              </a:rPr>
              <a:t>Aug '25</a:t>
            </a:r>
            <a:endParaRPr lang="en-US" sz="1050" dirty="0"/>
          </a:p>
        </p:txBody>
      </p:sp>
      <p:sp>
        <p:nvSpPr>
          <p:cNvPr id="22" name="Shape 20"/>
          <p:cNvSpPr/>
          <p:nvPr/>
        </p:nvSpPr>
        <p:spPr>
          <a:xfrm>
            <a:off x="274320" y="4487592"/>
            <a:ext cx="4114800" cy="640080"/>
          </a:xfrm>
          <a:prstGeom prst="rect">
            <a:avLst/>
          </a:prstGeom>
          <a:solidFill>
            <a:srgbClr val="E8F5E9"/>
          </a:solidFill>
          <a:ln w="12700">
            <a:solidFill>
              <a:srgbClr val="70AD47"/>
            </a:solidFill>
            <a:prstDash val="solid"/>
          </a:ln>
        </p:spPr>
      </p:sp>
      <p:sp>
        <p:nvSpPr>
          <p:cNvPr id="23" name="Text 21"/>
          <p:cNvSpPr/>
          <p:nvPr/>
        </p:nvSpPr>
        <p:spPr>
          <a:xfrm>
            <a:off x="365760" y="4555118"/>
            <a:ext cx="3931920" cy="603504"/>
          </a:xfrm>
          <a:prstGeom prst="rect">
            <a:avLst/>
          </a:prstGeom>
          <a:noFill/>
          <a:ln/>
        </p:spPr>
        <p:txBody>
          <a:bodyPr wrap="square" lIns="0" tIns="0" rIns="0" bIns="0" rtlCol="0" anchor="ctr"/>
          <a:lstStyle/>
          <a:p>
            <a:pPr marL="0" indent="0">
              <a:buNone/>
            </a:pPr>
            <a:r>
              <a:rPr lang="en-US" sz="950" b="1" dirty="0">
                <a:latin typeface="Arial" pitchFamily="34" charset="0"/>
                <a:ea typeface="Arial" pitchFamily="34" charset="-122"/>
                <a:cs typeface="Arial" pitchFamily="34" charset="-120"/>
              </a:rPr>
              <a:t>🚀  Peak: May 2025 with 26 leads — the highest monthly intake, possibly driven by admissions season.</a:t>
            </a:r>
            <a:endParaRPr lang="en-US" sz="950" b="1" dirty="0"/>
          </a:p>
        </p:txBody>
      </p:sp>
      <p:sp>
        <p:nvSpPr>
          <p:cNvPr id="24" name="Shape 22"/>
          <p:cNvSpPr/>
          <p:nvPr/>
        </p:nvSpPr>
        <p:spPr>
          <a:xfrm>
            <a:off x="4677507" y="4480558"/>
            <a:ext cx="4363005" cy="640080"/>
          </a:xfrm>
          <a:prstGeom prst="rect">
            <a:avLst/>
          </a:prstGeom>
          <a:solidFill>
            <a:srgbClr val="FFF3E0"/>
          </a:solidFill>
          <a:ln w="12700">
            <a:solidFill>
              <a:srgbClr val="FFC000"/>
            </a:solidFill>
            <a:prstDash val="solid"/>
          </a:ln>
        </p:spPr>
      </p:sp>
      <p:sp>
        <p:nvSpPr>
          <p:cNvPr id="25" name="Text 23"/>
          <p:cNvSpPr/>
          <p:nvPr/>
        </p:nvSpPr>
        <p:spPr>
          <a:xfrm>
            <a:off x="4740812" y="4541050"/>
            <a:ext cx="4023360" cy="603504"/>
          </a:xfrm>
          <a:prstGeom prst="rect">
            <a:avLst/>
          </a:prstGeom>
          <a:noFill/>
          <a:ln/>
        </p:spPr>
        <p:txBody>
          <a:bodyPr wrap="square" lIns="0" tIns="0" rIns="0" bIns="0" rtlCol="0" anchor="ctr"/>
          <a:lstStyle/>
          <a:p>
            <a:pPr marL="0" indent="0">
              <a:buNone/>
            </a:pPr>
            <a:r>
              <a:rPr lang="en-US" sz="950" b="1" dirty="0">
                <a:latin typeface="Arial" pitchFamily="34" charset="0"/>
                <a:ea typeface="Arial" pitchFamily="34" charset="-122"/>
                <a:cs typeface="Arial" pitchFamily="34" charset="-120"/>
              </a:rPr>
              <a:t>📉  Sharp decline after May — Jun (8), Jul (6), Aug (1). Indicates seasonal tapering post application deadline.</a:t>
            </a:r>
            <a:endParaRPr lang="en-US" sz="950" b="1" dirty="0"/>
          </a:p>
        </p:txBody>
      </p:sp>
      <p:graphicFrame>
        <p:nvGraphicFramePr>
          <p:cNvPr id="26" name="Chart 25">
            <a:extLst>
              <a:ext uri="{FF2B5EF4-FFF2-40B4-BE49-F238E27FC236}">
                <a16:creationId xmlns:a16="http://schemas.microsoft.com/office/drawing/2014/main" id="{BF18DC8B-54EA-595B-4742-EFCD2E2B8077}"/>
              </a:ext>
            </a:extLst>
          </p:cNvPr>
          <p:cNvGraphicFramePr>
            <a:graphicFrameLocks/>
          </p:cNvGraphicFramePr>
          <p:nvPr>
            <p:extLst>
              <p:ext uri="{D42A27DB-BD31-4B8C-83A1-F6EECF244321}">
                <p14:modId xmlns:p14="http://schemas.microsoft.com/office/powerpoint/2010/main" val="2949814243"/>
              </p:ext>
            </p:extLst>
          </p:nvPr>
        </p:nvGraphicFramePr>
        <p:xfrm>
          <a:off x="4636427" y="1135614"/>
          <a:ext cx="4404086" cy="325772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Text 1"/>
          <p:cNvSpPr/>
          <p:nvPr/>
        </p:nvSpPr>
        <p:spPr>
          <a:xfrm>
            <a:off x="365760" y="237041"/>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Application &amp; Conversion Funnel</a:t>
            </a:r>
            <a:endParaRPr lang="en-US" sz="2200" dirty="0"/>
          </a:p>
        </p:txBody>
      </p:sp>
      <p:sp>
        <p:nvSpPr>
          <p:cNvPr id="5" name="Shape 3"/>
          <p:cNvSpPr/>
          <p:nvPr/>
        </p:nvSpPr>
        <p:spPr>
          <a:xfrm>
            <a:off x="457200" y="1143000"/>
            <a:ext cx="8229600" cy="502920"/>
          </a:xfrm>
          <a:prstGeom prst="rect">
            <a:avLst/>
          </a:prstGeom>
          <a:solidFill>
            <a:srgbClr val="1E2761"/>
          </a:solidFill>
          <a:ln w="12700">
            <a:solidFill>
              <a:srgbClr val="1E2761"/>
            </a:solidFill>
            <a:prstDash val="solid"/>
          </a:ln>
          <a:effectLst>
            <a:outerShdw blurRad="76200" dist="38100" dir="8100000" algn="bl" rotWithShape="0">
              <a:srgbClr val="000000">
                <a:alpha val="12000"/>
              </a:srgbClr>
            </a:outerShdw>
          </a:effectLst>
        </p:spPr>
      </p:sp>
      <p:sp>
        <p:nvSpPr>
          <p:cNvPr id="6" name="Text 4"/>
          <p:cNvSpPr/>
          <p:nvPr/>
        </p:nvSpPr>
        <p:spPr>
          <a:xfrm>
            <a:off x="594360" y="1216152"/>
            <a:ext cx="5349240"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Total Leads in System</a:t>
            </a:r>
            <a:endParaRPr lang="en-US" sz="1100" dirty="0"/>
          </a:p>
        </p:txBody>
      </p:sp>
      <p:sp>
        <p:nvSpPr>
          <p:cNvPr id="7" name="Text 5"/>
          <p:cNvSpPr/>
          <p:nvPr/>
        </p:nvSpPr>
        <p:spPr>
          <a:xfrm>
            <a:off x="6053328" y="1216152"/>
            <a:ext cx="2468880" cy="347472"/>
          </a:xfrm>
          <a:prstGeom prst="rect">
            <a:avLst/>
          </a:prstGeom>
          <a:noFill/>
          <a:ln/>
        </p:spPr>
        <p:txBody>
          <a:bodyPr wrap="square" lIns="0" tIns="0" rIns="0" bIns="0" rtlCol="0" anchor="ctr"/>
          <a:lstStyle/>
          <a:p>
            <a:pPr marL="0" indent="0" algn="r">
              <a:buNone/>
            </a:pPr>
            <a:r>
              <a:rPr lang="en-US" sz="1200" b="1" dirty="0">
                <a:solidFill>
                  <a:srgbClr val="FFFFFF"/>
                </a:solidFill>
                <a:latin typeface="Arial Black" pitchFamily="34" charset="0"/>
                <a:ea typeface="Arial Black" pitchFamily="34" charset="-122"/>
                <a:cs typeface="Arial Black" pitchFamily="34" charset="-120"/>
              </a:rPr>
              <a:t>56  (100%)</a:t>
            </a:r>
            <a:endParaRPr lang="en-US" sz="1200" dirty="0"/>
          </a:p>
        </p:txBody>
      </p:sp>
      <p:sp>
        <p:nvSpPr>
          <p:cNvPr id="8" name="Shape 6"/>
          <p:cNvSpPr/>
          <p:nvPr/>
        </p:nvSpPr>
        <p:spPr>
          <a:xfrm>
            <a:off x="4480560" y="1798203"/>
            <a:ext cx="182880" cy="137160"/>
          </a:xfrm>
          <a:prstGeom prst="rect">
            <a:avLst/>
          </a:prstGeom>
          <a:solidFill>
            <a:srgbClr val="AAAAAA"/>
          </a:solidFill>
          <a:ln w="12700">
            <a:solidFill>
              <a:srgbClr val="AAAAAA"/>
            </a:solidFill>
            <a:prstDash val="solid"/>
          </a:ln>
        </p:spPr>
      </p:sp>
      <p:sp>
        <p:nvSpPr>
          <p:cNvPr id="9" name="Shape 7"/>
          <p:cNvSpPr/>
          <p:nvPr/>
        </p:nvSpPr>
        <p:spPr>
          <a:xfrm>
            <a:off x="1005840" y="2047554"/>
            <a:ext cx="7132320" cy="502920"/>
          </a:xfrm>
          <a:prstGeom prst="rect">
            <a:avLst/>
          </a:prstGeom>
          <a:solidFill>
            <a:srgbClr val="4472C4"/>
          </a:solidFill>
          <a:ln w="12700">
            <a:solidFill>
              <a:srgbClr val="4472C4"/>
            </a:solidFill>
            <a:prstDash val="solid"/>
          </a:ln>
          <a:effectLst>
            <a:outerShdw blurRad="76200" dist="38100" dir="8100000" algn="bl" rotWithShape="0">
              <a:srgbClr val="000000">
                <a:alpha val="12000"/>
              </a:srgbClr>
            </a:outerShdw>
          </a:effectLst>
        </p:spPr>
      </p:sp>
      <p:sp>
        <p:nvSpPr>
          <p:cNvPr id="10" name="Text 8"/>
          <p:cNvSpPr/>
          <p:nvPr/>
        </p:nvSpPr>
        <p:spPr>
          <a:xfrm>
            <a:off x="1143000" y="2120706"/>
            <a:ext cx="4636008"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Verified (Email or Mobile)</a:t>
            </a:r>
            <a:endParaRPr lang="en-US" sz="1100" dirty="0"/>
          </a:p>
        </p:txBody>
      </p:sp>
      <p:sp>
        <p:nvSpPr>
          <p:cNvPr id="11" name="Text 9"/>
          <p:cNvSpPr/>
          <p:nvPr/>
        </p:nvSpPr>
        <p:spPr>
          <a:xfrm>
            <a:off x="5855818" y="2120706"/>
            <a:ext cx="2139696" cy="347472"/>
          </a:xfrm>
          <a:prstGeom prst="rect">
            <a:avLst/>
          </a:prstGeom>
          <a:noFill/>
          <a:ln/>
        </p:spPr>
        <p:txBody>
          <a:bodyPr wrap="square" lIns="0" tIns="0" rIns="0" bIns="0" rtlCol="0" anchor="ctr"/>
          <a:lstStyle/>
          <a:p>
            <a:pPr marL="0" indent="0" algn="r">
              <a:buNone/>
            </a:pPr>
            <a:r>
              <a:rPr lang="en-US" sz="1200" b="1" dirty="0">
                <a:solidFill>
                  <a:srgbClr val="FFFFFF"/>
                </a:solidFill>
                <a:latin typeface="Arial Black" pitchFamily="34" charset="0"/>
                <a:ea typeface="Arial Black" pitchFamily="34" charset="-122"/>
                <a:cs typeface="Arial Black" pitchFamily="34" charset="-120"/>
              </a:rPr>
              <a:t>56  (100%)</a:t>
            </a:r>
            <a:endParaRPr lang="en-US" sz="1200" dirty="0"/>
          </a:p>
        </p:txBody>
      </p:sp>
      <p:sp>
        <p:nvSpPr>
          <p:cNvPr id="12" name="Shape 10"/>
          <p:cNvSpPr/>
          <p:nvPr/>
        </p:nvSpPr>
        <p:spPr>
          <a:xfrm>
            <a:off x="4480560" y="2639104"/>
            <a:ext cx="182880" cy="137160"/>
          </a:xfrm>
          <a:prstGeom prst="rect">
            <a:avLst/>
          </a:prstGeom>
          <a:solidFill>
            <a:srgbClr val="AAAAAA"/>
          </a:solidFill>
          <a:ln w="12700">
            <a:solidFill>
              <a:srgbClr val="AAAAAA"/>
            </a:solidFill>
            <a:prstDash val="solid"/>
          </a:ln>
        </p:spPr>
      </p:sp>
      <p:sp>
        <p:nvSpPr>
          <p:cNvPr id="13" name="Shape 11"/>
          <p:cNvSpPr/>
          <p:nvPr/>
        </p:nvSpPr>
        <p:spPr>
          <a:xfrm>
            <a:off x="1554480" y="2867699"/>
            <a:ext cx="6035040" cy="502920"/>
          </a:xfrm>
          <a:prstGeom prst="rect">
            <a:avLst/>
          </a:prstGeom>
          <a:solidFill>
            <a:srgbClr val="028090"/>
          </a:solidFill>
          <a:ln w="12700">
            <a:solidFill>
              <a:srgbClr val="028090"/>
            </a:solidFill>
            <a:prstDash val="solid"/>
          </a:ln>
          <a:effectLst>
            <a:outerShdw blurRad="76200" dist="38100" dir="8100000" algn="bl" rotWithShape="0">
              <a:srgbClr val="000000">
                <a:alpha val="12000"/>
              </a:srgbClr>
            </a:outerShdw>
          </a:effectLst>
        </p:spPr>
      </p:sp>
      <p:sp>
        <p:nvSpPr>
          <p:cNvPr id="14" name="Text 12"/>
          <p:cNvSpPr/>
          <p:nvPr/>
        </p:nvSpPr>
        <p:spPr>
          <a:xfrm>
            <a:off x="1691640" y="2940851"/>
            <a:ext cx="3922776"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Form Initiated</a:t>
            </a:r>
            <a:endParaRPr lang="en-US" sz="1100" dirty="0"/>
          </a:p>
        </p:txBody>
      </p:sp>
      <p:sp>
        <p:nvSpPr>
          <p:cNvPr id="15" name="Text 13"/>
          <p:cNvSpPr/>
          <p:nvPr/>
        </p:nvSpPr>
        <p:spPr>
          <a:xfrm>
            <a:off x="5658307" y="2940851"/>
            <a:ext cx="1810512" cy="347472"/>
          </a:xfrm>
          <a:prstGeom prst="rect">
            <a:avLst/>
          </a:prstGeom>
          <a:noFill/>
          <a:ln/>
        </p:spPr>
        <p:txBody>
          <a:bodyPr wrap="square" lIns="0" tIns="0" rIns="0" bIns="0" rtlCol="0" anchor="ctr"/>
          <a:lstStyle/>
          <a:p>
            <a:pPr marL="0" indent="0" algn="r">
              <a:buNone/>
            </a:pPr>
            <a:r>
              <a:rPr lang="en-US" sz="1200" b="1" dirty="0">
                <a:solidFill>
                  <a:srgbClr val="FFFFFF"/>
                </a:solidFill>
                <a:latin typeface="Arial Black" pitchFamily="34" charset="0"/>
                <a:ea typeface="Arial Black" pitchFamily="34" charset="-122"/>
                <a:cs typeface="Arial Black" pitchFamily="34" charset="-120"/>
              </a:rPr>
              <a:t>56  (100%)</a:t>
            </a:r>
            <a:endParaRPr lang="en-US" sz="1200" dirty="0"/>
          </a:p>
        </p:txBody>
      </p:sp>
      <p:sp>
        <p:nvSpPr>
          <p:cNvPr id="16" name="Shape 14"/>
          <p:cNvSpPr/>
          <p:nvPr/>
        </p:nvSpPr>
        <p:spPr>
          <a:xfrm>
            <a:off x="4480560" y="3438145"/>
            <a:ext cx="182880" cy="137160"/>
          </a:xfrm>
          <a:prstGeom prst="rect">
            <a:avLst/>
          </a:prstGeom>
          <a:solidFill>
            <a:srgbClr val="AAAAAA"/>
          </a:solidFill>
          <a:ln w="12700">
            <a:solidFill>
              <a:srgbClr val="AAAAAA"/>
            </a:solidFill>
            <a:prstDash val="solid"/>
          </a:ln>
        </p:spPr>
      </p:sp>
      <p:sp>
        <p:nvSpPr>
          <p:cNvPr id="17" name="Shape 15"/>
          <p:cNvSpPr/>
          <p:nvPr/>
        </p:nvSpPr>
        <p:spPr>
          <a:xfrm>
            <a:off x="2103120" y="3673778"/>
            <a:ext cx="4937760" cy="502920"/>
          </a:xfrm>
          <a:prstGeom prst="rect">
            <a:avLst/>
          </a:prstGeom>
          <a:solidFill>
            <a:srgbClr val="70AD47"/>
          </a:solidFill>
          <a:ln w="12700">
            <a:solidFill>
              <a:srgbClr val="70AD47"/>
            </a:solidFill>
            <a:prstDash val="solid"/>
          </a:ln>
          <a:effectLst>
            <a:outerShdw blurRad="76200" dist="38100" dir="8100000" algn="bl" rotWithShape="0">
              <a:srgbClr val="000000">
                <a:alpha val="12000"/>
              </a:srgbClr>
            </a:outerShdw>
          </a:effectLst>
        </p:spPr>
      </p:sp>
      <p:sp>
        <p:nvSpPr>
          <p:cNvPr id="18" name="Text 16"/>
          <p:cNvSpPr/>
          <p:nvPr/>
        </p:nvSpPr>
        <p:spPr>
          <a:xfrm>
            <a:off x="2240280" y="3746930"/>
            <a:ext cx="3209544"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Paid Application Submitted</a:t>
            </a:r>
            <a:endParaRPr lang="en-US" sz="1100" dirty="0"/>
          </a:p>
        </p:txBody>
      </p:sp>
      <p:sp>
        <p:nvSpPr>
          <p:cNvPr id="19" name="Text 17"/>
          <p:cNvSpPr/>
          <p:nvPr/>
        </p:nvSpPr>
        <p:spPr>
          <a:xfrm>
            <a:off x="5460797" y="3746930"/>
            <a:ext cx="1481328" cy="347472"/>
          </a:xfrm>
          <a:prstGeom prst="rect">
            <a:avLst/>
          </a:prstGeom>
          <a:noFill/>
          <a:ln/>
        </p:spPr>
        <p:txBody>
          <a:bodyPr wrap="square" lIns="0" tIns="0" rIns="0" bIns="0" rtlCol="0" anchor="ctr"/>
          <a:lstStyle/>
          <a:p>
            <a:pPr marL="0" indent="0" algn="r">
              <a:buNone/>
            </a:pPr>
            <a:r>
              <a:rPr lang="en-US" sz="1200" b="1" dirty="0">
                <a:solidFill>
                  <a:srgbClr val="FFFFFF"/>
                </a:solidFill>
                <a:latin typeface="Arial Black" pitchFamily="34" charset="0"/>
                <a:ea typeface="Arial Black" pitchFamily="34" charset="-122"/>
                <a:cs typeface="Arial Black" pitchFamily="34" charset="-120"/>
              </a:rPr>
              <a:t>56  (100%)</a:t>
            </a:r>
            <a:endParaRPr lang="en-US" sz="1200" dirty="0"/>
          </a:p>
        </p:txBody>
      </p:sp>
      <p:sp>
        <p:nvSpPr>
          <p:cNvPr id="20" name="Shape 18"/>
          <p:cNvSpPr/>
          <p:nvPr/>
        </p:nvSpPr>
        <p:spPr>
          <a:xfrm>
            <a:off x="4480560" y="4293813"/>
            <a:ext cx="182880" cy="137160"/>
          </a:xfrm>
          <a:prstGeom prst="rect">
            <a:avLst/>
          </a:prstGeom>
          <a:solidFill>
            <a:srgbClr val="AAAAAA"/>
          </a:solidFill>
          <a:ln w="12700">
            <a:solidFill>
              <a:srgbClr val="AAAAAA"/>
            </a:solidFill>
            <a:prstDash val="solid"/>
          </a:ln>
        </p:spPr>
      </p:sp>
      <p:sp>
        <p:nvSpPr>
          <p:cNvPr id="21" name="Shape 19"/>
          <p:cNvSpPr/>
          <p:nvPr/>
        </p:nvSpPr>
        <p:spPr>
          <a:xfrm>
            <a:off x="2651760" y="4536129"/>
            <a:ext cx="3840480" cy="502920"/>
          </a:xfrm>
          <a:prstGeom prst="rect">
            <a:avLst/>
          </a:prstGeom>
          <a:solidFill>
            <a:srgbClr val="E95B4E"/>
          </a:solidFill>
          <a:ln w="12700">
            <a:solidFill>
              <a:srgbClr val="E95B4E"/>
            </a:solidFill>
            <a:prstDash val="solid"/>
          </a:ln>
          <a:effectLst>
            <a:outerShdw blurRad="76200" dist="38100" dir="8100000" algn="bl" rotWithShape="0">
              <a:srgbClr val="000000">
                <a:alpha val="12000"/>
              </a:srgbClr>
            </a:outerShdw>
          </a:effectLst>
        </p:spPr>
      </p:sp>
      <p:sp>
        <p:nvSpPr>
          <p:cNvPr id="22" name="Text 20"/>
          <p:cNvSpPr/>
          <p:nvPr/>
        </p:nvSpPr>
        <p:spPr>
          <a:xfrm>
            <a:off x="2788920" y="4609281"/>
            <a:ext cx="2496312"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Enrolled</a:t>
            </a:r>
            <a:endParaRPr lang="en-US" sz="1100" dirty="0"/>
          </a:p>
        </p:txBody>
      </p:sp>
      <p:sp>
        <p:nvSpPr>
          <p:cNvPr id="23" name="Text 21"/>
          <p:cNvSpPr/>
          <p:nvPr/>
        </p:nvSpPr>
        <p:spPr>
          <a:xfrm>
            <a:off x="5263286" y="4609281"/>
            <a:ext cx="1152144" cy="347472"/>
          </a:xfrm>
          <a:prstGeom prst="rect">
            <a:avLst/>
          </a:prstGeom>
          <a:noFill/>
          <a:ln/>
        </p:spPr>
        <p:txBody>
          <a:bodyPr wrap="square" lIns="0" tIns="0" rIns="0" bIns="0" rtlCol="0" anchor="ctr"/>
          <a:lstStyle/>
          <a:p>
            <a:pPr marL="0" indent="0" algn="r">
              <a:buNone/>
            </a:pPr>
            <a:r>
              <a:rPr lang="en-US" sz="1200" b="1" dirty="0">
                <a:solidFill>
                  <a:srgbClr val="FFFFFF"/>
                </a:solidFill>
                <a:latin typeface="Arial Black" pitchFamily="34" charset="0"/>
                <a:ea typeface="Arial Black" pitchFamily="34" charset="-122"/>
                <a:cs typeface="Arial Black" pitchFamily="34" charset="-120"/>
              </a:rPr>
              <a:t>56  (100%)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E9BC-9A2C-250F-3615-3515F8DEC5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2EEAAA-C7BE-7DEE-9E24-B46E29C83513}"/>
              </a:ext>
            </a:extLst>
          </p:cNvPr>
          <p:cNvSpPr/>
          <p:nvPr/>
        </p:nvSpPr>
        <p:spPr>
          <a:xfrm>
            <a:off x="0" y="0"/>
            <a:ext cx="320040" cy="5143500"/>
          </a:xfrm>
          <a:prstGeom prst="rect">
            <a:avLst/>
          </a:prstGeom>
          <a:solidFill>
            <a:srgbClr val="E95B4E"/>
          </a:solidFill>
          <a:ln w="12700">
            <a:solidFill>
              <a:srgbClr val="E95B4E"/>
            </a:solidFill>
            <a:prstDash val="solid"/>
          </a:ln>
        </p:spPr>
      </p:sp>
      <p:sp>
        <p:nvSpPr>
          <p:cNvPr id="4" name="Text 2">
            <a:extLst>
              <a:ext uri="{FF2B5EF4-FFF2-40B4-BE49-F238E27FC236}">
                <a16:creationId xmlns:a16="http://schemas.microsoft.com/office/drawing/2014/main" id="{6EDB293E-D779-EF23-9B3A-89A83A69CA93}"/>
              </a:ext>
            </a:extLst>
          </p:cNvPr>
          <p:cNvSpPr/>
          <p:nvPr/>
        </p:nvSpPr>
        <p:spPr>
          <a:xfrm>
            <a:off x="502920" y="182880"/>
            <a:ext cx="8229600" cy="548640"/>
          </a:xfrm>
          <a:prstGeom prst="rect">
            <a:avLst/>
          </a:prstGeom>
          <a:noFill/>
          <a:ln/>
        </p:spPr>
        <p:txBody>
          <a:bodyPr wrap="square" lIns="0" tIns="0" rIns="0" bIns="0" rtlCol="0" anchor="ctr"/>
          <a:lstStyle/>
          <a:p>
            <a:pPr marL="0" indent="0">
              <a:buNone/>
            </a:pPr>
            <a:r>
              <a:rPr lang="en-US" sz="2600" b="1" dirty="0">
                <a:latin typeface="Arial Black" pitchFamily="34" charset="0"/>
                <a:ea typeface="Arial Black" pitchFamily="34" charset="-122"/>
                <a:cs typeface="Arial Black" pitchFamily="34" charset="-120"/>
              </a:rPr>
              <a:t>Key Insights &amp;</a:t>
            </a:r>
            <a:endParaRPr lang="en-US" sz="2600" dirty="0"/>
          </a:p>
        </p:txBody>
      </p:sp>
      <p:sp>
        <p:nvSpPr>
          <p:cNvPr id="5" name="Text 3">
            <a:extLst>
              <a:ext uri="{FF2B5EF4-FFF2-40B4-BE49-F238E27FC236}">
                <a16:creationId xmlns:a16="http://schemas.microsoft.com/office/drawing/2014/main" id="{68A4EDAE-8343-5A25-C464-5E86E5892789}"/>
              </a:ext>
            </a:extLst>
          </p:cNvPr>
          <p:cNvSpPr/>
          <p:nvPr/>
        </p:nvSpPr>
        <p:spPr>
          <a:xfrm>
            <a:off x="502920" y="713232"/>
            <a:ext cx="8229600" cy="548640"/>
          </a:xfrm>
          <a:prstGeom prst="rect">
            <a:avLst/>
          </a:prstGeom>
          <a:noFill/>
          <a:ln/>
        </p:spPr>
        <p:txBody>
          <a:bodyPr wrap="square" lIns="0" tIns="0" rIns="0" bIns="0" rtlCol="0" anchor="ctr"/>
          <a:lstStyle/>
          <a:p>
            <a:pPr marL="0" indent="0">
              <a:buNone/>
            </a:pPr>
            <a:r>
              <a:rPr lang="en-US" sz="2600" b="1" dirty="0">
                <a:solidFill>
                  <a:srgbClr val="E95B4E"/>
                </a:solidFill>
                <a:latin typeface="Arial Black" pitchFamily="34" charset="0"/>
                <a:ea typeface="Arial Black" pitchFamily="34" charset="-122"/>
                <a:cs typeface="Arial Black" pitchFamily="34" charset="-120"/>
              </a:rPr>
              <a:t>Recommendations</a:t>
            </a:r>
            <a:endParaRPr lang="en-US" sz="2600" dirty="0"/>
          </a:p>
        </p:txBody>
      </p:sp>
      <p:sp>
        <p:nvSpPr>
          <p:cNvPr id="6" name="Shape 4">
            <a:extLst>
              <a:ext uri="{FF2B5EF4-FFF2-40B4-BE49-F238E27FC236}">
                <a16:creationId xmlns:a16="http://schemas.microsoft.com/office/drawing/2014/main" id="{5799D2DF-83F0-90D8-2C0E-79923F2348A7}"/>
              </a:ext>
            </a:extLst>
          </p:cNvPr>
          <p:cNvSpPr/>
          <p:nvPr/>
        </p:nvSpPr>
        <p:spPr>
          <a:xfrm>
            <a:off x="548640" y="1335024"/>
            <a:ext cx="4023360" cy="1078992"/>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txBody>
          <a:bodyPr/>
          <a:lstStyle/>
          <a:p>
            <a:endParaRPr lang="en-US" dirty="0"/>
          </a:p>
        </p:txBody>
      </p:sp>
      <p:sp>
        <p:nvSpPr>
          <p:cNvPr id="8" name="Text 6">
            <a:extLst>
              <a:ext uri="{FF2B5EF4-FFF2-40B4-BE49-F238E27FC236}">
                <a16:creationId xmlns:a16="http://schemas.microsoft.com/office/drawing/2014/main" id="{CAA396EB-CCB0-9E83-1B68-5ED2DBA78443}"/>
              </a:ext>
            </a:extLst>
          </p:cNvPr>
          <p:cNvSpPr/>
          <p:nvPr/>
        </p:nvSpPr>
        <p:spPr>
          <a:xfrm>
            <a:off x="548640" y="173736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9" name="Text 7">
            <a:extLst>
              <a:ext uri="{FF2B5EF4-FFF2-40B4-BE49-F238E27FC236}">
                <a16:creationId xmlns:a16="http://schemas.microsoft.com/office/drawing/2014/main" id="{8709CE00-074D-6CFA-D2EC-483B9AA3F8F2}"/>
              </a:ext>
            </a:extLst>
          </p:cNvPr>
          <p:cNvSpPr/>
          <p:nvPr/>
        </p:nvSpPr>
        <p:spPr>
          <a:xfrm>
            <a:off x="1048043" y="1360346"/>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NCR Dominance</a:t>
            </a:r>
            <a:endParaRPr lang="en-US" sz="1050" dirty="0"/>
          </a:p>
        </p:txBody>
      </p:sp>
      <p:sp>
        <p:nvSpPr>
          <p:cNvPr id="10" name="Text 8">
            <a:extLst>
              <a:ext uri="{FF2B5EF4-FFF2-40B4-BE49-F238E27FC236}">
                <a16:creationId xmlns:a16="http://schemas.microsoft.com/office/drawing/2014/main" id="{A4EF908D-D253-34C2-4A04-53BC197AF6B4}"/>
              </a:ext>
            </a:extLst>
          </p:cNvPr>
          <p:cNvSpPr/>
          <p:nvPr/>
        </p:nvSpPr>
        <p:spPr>
          <a:xfrm>
            <a:off x="1097280" y="1732788"/>
            <a:ext cx="3337560" cy="502920"/>
          </a:xfrm>
          <a:prstGeom prst="rect">
            <a:avLst/>
          </a:prstGeom>
          <a:noFill/>
          <a:ln/>
        </p:spPr>
        <p:txBody>
          <a:bodyPr wrap="square" lIns="0" tIns="0" rIns="0" bIns="0" rtlCol="0" anchor="ctr"/>
          <a:lstStyle/>
          <a:p>
            <a:r>
              <a:rPr lang="en-GB" sz="1050" b="1" dirty="0">
                <a:solidFill>
                  <a:schemeClr val="bg1"/>
                </a:solidFill>
              </a:rPr>
              <a:t>The majority of leads (77%) originate from Delhi and Uttar Pradesh. Focus resources on deeper penetration in these key markets, while also initiating outreach efforts in Rajasthan, Punjab, and Madhya Pradesh.</a:t>
            </a:r>
            <a:r>
              <a:rPr lang="en-US" sz="400" b="1" dirty="0">
                <a:solidFill>
                  <a:schemeClr val="bg1"/>
                </a:solidFill>
                <a:latin typeface="Arial" pitchFamily="34" charset="0"/>
                <a:ea typeface="Arial" pitchFamily="34" charset="-122"/>
                <a:cs typeface="Arial" pitchFamily="34" charset="-120"/>
              </a:rPr>
              <a:t>.</a:t>
            </a:r>
            <a:endParaRPr lang="en-US" sz="400" b="1" dirty="0">
              <a:solidFill>
                <a:schemeClr val="bg1"/>
              </a:solidFill>
            </a:endParaRPr>
          </a:p>
        </p:txBody>
      </p:sp>
      <p:sp>
        <p:nvSpPr>
          <p:cNvPr id="11" name="Shape 9">
            <a:extLst>
              <a:ext uri="{FF2B5EF4-FFF2-40B4-BE49-F238E27FC236}">
                <a16:creationId xmlns:a16="http://schemas.microsoft.com/office/drawing/2014/main" id="{631FF08A-2EAD-078B-27CF-362690B27D8F}"/>
              </a:ext>
            </a:extLst>
          </p:cNvPr>
          <p:cNvSpPr/>
          <p:nvPr/>
        </p:nvSpPr>
        <p:spPr>
          <a:xfrm>
            <a:off x="502920" y="2560320"/>
            <a:ext cx="4023360" cy="914400"/>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sp>
      <p:sp>
        <p:nvSpPr>
          <p:cNvPr id="13" name="Text 11">
            <a:extLst>
              <a:ext uri="{FF2B5EF4-FFF2-40B4-BE49-F238E27FC236}">
                <a16:creationId xmlns:a16="http://schemas.microsoft.com/office/drawing/2014/main" id="{936CC1EF-89F6-EC4E-535F-64C253E9759A}"/>
              </a:ext>
            </a:extLst>
          </p:cNvPr>
          <p:cNvSpPr/>
          <p:nvPr/>
        </p:nvSpPr>
        <p:spPr>
          <a:xfrm>
            <a:off x="548640" y="283464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4" name="Text 12">
            <a:extLst>
              <a:ext uri="{FF2B5EF4-FFF2-40B4-BE49-F238E27FC236}">
                <a16:creationId xmlns:a16="http://schemas.microsoft.com/office/drawing/2014/main" id="{AA34AAC1-91A5-84C3-05C0-3E1291B8F32E}"/>
              </a:ext>
            </a:extLst>
          </p:cNvPr>
          <p:cNvSpPr/>
          <p:nvPr/>
        </p:nvSpPr>
        <p:spPr>
          <a:xfrm>
            <a:off x="1097280" y="2633472"/>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B.Tech CSE Monopoly</a:t>
            </a:r>
            <a:endParaRPr lang="en-US" sz="1050" dirty="0"/>
          </a:p>
        </p:txBody>
      </p:sp>
      <p:sp>
        <p:nvSpPr>
          <p:cNvPr id="15" name="Text 13">
            <a:extLst>
              <a:ext uri="{FF2B5EF4-FFF2-40B4-BE49-F238E27FC236}">
                <a16:creationId xmlns:a16="http://schemas.microsoft.com/office/drawing/2014/main" id="{05171420-3170-DBC0-D3AD-FE38EDE23C0F}"/>
              </a:ext>
            </a:extLst>
          </p:cNvPr>
          <p:cNvSpPr/>
          <p:nvPr/>
        </p:nvSpPr>
        <p:spPr>
          <a:xfrm>
            <a:off x="1097280" y="2907792"/>
            <a:ext cx="3337560" cy="50292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44.6% of leads want CSE. Diversify marketing for MBA, Liberal Arts, and Sciences to balance intake.</a:t>
            </a:r>
            <a:endParaRPr lang="en-US" sz="1000" b="1" dirty="0">
              <a:solidFill>
                <a:schemeClr val="bg1"/>
              </a:solidFill>
            </a:endParaRPr>
          </a:p>
        </p:txBody>
      </p:sp>
      <p:sp>
        <p:nvSpPr>
          <p:cNvPr id="16" name="Shape 14">
            <a:extLst>
              <a:ext uri="{FF2B5EF4-FFF2-40B4-BE49-F238E27FC236}">
                <a16:creationId xmlns:a16="http://schemas.microsoft.com/office/drawing/2014/main" id="{FFC1C3D8-816F-3C0B-4840-CDEFC8396141}"/>
              </a:ext>
            </a:extLst>
          </p:cNvPr>
          <p:cNvSpPr/>
          <p:nvPr/>
        </p:nvSpPr>
        <p:spPr>
          <a:xfrm>
            <a:off x="502920" y="3657600"/>
            <a:ext cx="4023360" cy="914400"/>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sp>
      <p:sp>
        <p:nvSpPr>
          <p:cNvPr id="18" name="Text 16">
            <a:extLst>
              <a:ext uri="{FF2B5EF4-FFF2-40B4-BE49-F238E27FC236}">
                <a16:creationId xmlns:a16="http://schemas.microsoft.com/office/drawing/2014/main" id="{92241C44-48E0-BFB4-5C08-D505A10745D8}"/>
              </a:ext>
            </a:extLst>
          </p:cNvPr>
          <p:cNvSpPr/>
          <p:nvPr/>
        </p:nvSpPr>
        <p:spPr>
          <a:xfrm>
            <a:off x="548640" y="393192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9" name="Text 17">
            <a:extLst>
              <a:ext uri="{FF2B5EF4-FFF2-40B4-BE49-F238E27FC236}">
                <a16:creationId xmlns:a16="http://schemas.microsoft.com/office/drawing/2014/main" id="{BCE99D85-DE5E-E1F0-7553-67A513059865}"/>
              </a:ext>
            </a:extLst>
          </p:cNvPr>
          <p:cNvSpPr/>
          <p:nvPr/>
        </p:nvSpPr>
        <p:spPr>
          <a:xfrm>
            <a:off x="1097280" y="3678702"/>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Email Verification Gap</a:t>
            </a:r>
            <a:endParaRPr lang="en-US" sz="1050" dirty="0"/>
          </a:p>
        </p:txBody>
      </p:sp>
      <p:sp>
        <p:nvSpPr>
          <p:cNvPr id="20" name="Text 18">
            <a:extLst>
              <a:ext uri="{FF2B5EF4-FFF2-40B4-BE49-F238E27FC236}">
                <a16:creationId xmlns:a16="http://schemas.microsoft.com/office/drawing/2014/main" id="{76B5D09C-6151-819C-3C1B-A718647BC2C9}"/>
              </a:ext>
            </a:extLst>
          </p:cNvPr>
          <p:cNvSpPr/>
          <p:nvPr/>
        </p:nvSpPr>
        <p:spPr>
          <a:xfrm>
            <a:off x="1097280" y="4005072"/>
            <a:ext cx="3337560" cy="50292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44.6% of emails are unverified. Launch email re-verification campaigns to improve deliverability.</a:t>
            </a:r>
            <a:endParaRPr lang="en-US" sz="1000" b="1" dirty="0">
              <a:solidFill>
                <a:schemeClr val="bg1"/>
              </a:solidFill>
            </a:endParaRPr>
          </a:p>
        </p:txBody>
      </p:sp>
      <p:sp>
        <p:nvSpPr>
          <p:cNvPr id="21" name="Shape 19">
            <a:extLst>
              <a:ext uri="{FF2B5EF4-FFF2-40B4-BE49-F238E27FC236}">
                <a16:creationId xmlns:a16="http://schemas.microsoft.com/office/drawing/2014/main" id="{16DDE4F0-D531-D236-CAB9-751233125856}"/>
              </a:ext>
            </a:extLst>
          </p:cNvPr>
          <p:cNvSpPr/>
          <p:nvPr/>
        </p:nvSpPr>
        <p:spPr>
          <a:xfrm>
            <a:off x="4892040" y="1335024"/>
            <a:ext cx="4023360" cy="1042416"/>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sp>
      <p:sp>
        <p:nvSpPr>
          <p:cNvPr id="23" name="Text 21">
            <a:extLst>
              <a:ext uri="{FF2B5EF4-FFF2-40B4-BE49-F238E27FC236}">
                <a16:creationId xmlns:a16="http://schemas.microsoft.com/office/drawing/2014/main" id="{C0A9D4EA-6197-EA24-3557-B0F4A00154AC}"/>
              </a:ext>
            </a:extLst>
          </p:cNvPr>
          <p:cNvSpPr/>
          <p:nvPr/>
        </p:nvSpPr>
        <p:spPr>
          <a:xfrm>
            <a:off x="4937760" y="173736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4" name="Text 22">
            <a:extLst>
              <a:ext uri="{FF2B5EF4-FFF2-40B4-BE49-F238E27FC236}">
                <a16:creationId xmlns:a16="http://schemas.microsoft.com/office/drawing/2014/main" id="{88F7FF3B-78C7-D400-AD90-1E17153F98AA}"/>
              </a:ext>
            </a:extLst>
          </p:cNvPr>
          <p:cNvSpPr/>
          <p:nvPr/>
        </p:nvSpPr>
        <p:spPr>
          <a:xfrm>
            <a:off x="5486400" y="1370193"/>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Untouched Leads Risk</a:t>
            </a:r>
            <a:endParaRPr lang="en-US" sz="1050" dirty="0"/>
          </a:p>
        </p:txBody>
      </p:sp>
      <p:sp>
        <p:nvSpPr>
          <p:cNvPr id="25" name="Text 23">
            <a:extLst>
              <a:ext uri="{FF2B5EF4-FFF2-40B4-BE49-F238E27FC236}">
                <a16:creationId xmlns:a16="http://schemas.microsoft.com/office/drawing/2014/main" id="{9383B6C8-6229-4BA8-8987-E541A02BABD7}"/>
              </a:ext>
            </a:extLst>
          </p:cNvPr>
          <p:cNvSpPr/>
          <p:nvPr/>
        </p:nvSpPr>
        <p:spPr>
          <a:xfrm>
            <a:off x="5486400" y="1717665"/>
            <a:ext cx="3337560" cy="50292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15 leads (26.8%) are 'Untouched &amp; Applied'. These need immediate follow-up to prevent drop-off.</a:t>
            </a:r>
            <a:endParaRPr lang="en-US" sz="1000" b="1" dirty="0">
              <a:solidFill>
                <a:schemeClr val="bg1"/>
              </a:solidFill>
            </a:endParaRPr>
          </a:p>
        </p:txBody>
      </p:sp>
      <p:sp>
        <p:nvSpPr>
          <p:cNvPr id="26" name="Shape 24">
            <a:extLst>
              <a:ext uri="{FF2B5EF4-FFF2-40B4-BE49-F238E27FC236}">
                <a16:creationId xmlns:a16="http://schemas.microsoft.com/office/drawing/2014/main" id="{A39D46AC-B347-715C-39BC-BD53EA3925C9}"/>
              </a:ext>
            </a:extLst>
          </p:cNvPr>
          <p:cNvSpPr/>
          <p:nvPr/>
        </p:nvSpPr>
        <p:spPr>
          <a:xfrm>
            <a:off x="4892040" y="2560320"/>
            <a:ext cx="4023360" cy="914400"/>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sp>
      <p:sp>
        <p:nvSpPr>
          <p:cNvPr id="28" name="Text 26">
            <a:extLst>
              <a:ext uri="{FF2B5EF4-FFF2-40B4-BE49-F238E27FC236}">
                <a16:creationId xmlns:a16="http://schemas.microsoft.com/office/drawing/2014/main" id="{CB767C83-C301-D1C2-37EE-7E06B824E1E5}"/>
              </a:ext>
            </a:extLst>
          </p:cNvPr>
          <p:cNvSpPr/>
          <p:nvPr/>
        </p:nvSpPr>
        <p:spPr>
          <a:xfrm>
            <a:off x="4937760" y="283464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9" name="Text 27">
            <a:extLst>
              <a:ext uri="{FF2B5EF4-FFF2-40B4-BE49-F238E27FC236}">
                <a16:creationId xmlns:a16="http://schemas.microsoft.com/office/drawing/2014/main" id="{40F2A1FB-17E5-3C4A-9BF0-203C3AEA4689}"/>
              </a:ext>
            </a:extLst>
          </p:cNvPr>
          <p:cNvSpPr/>
          <p:nvPr/>
        </p:nvSpPr>
        <p:spPr>
          <a:xfrm>
            <a:off x="5486400" y="2560320"/>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Mobile-First Opportunity</a:t>
            </a:r>
            <a:endParaRPr lang="en-US" sz="1050" dirty="0"/>
          </a:p>
        </p:txBody>
      </p:sp>
      <p:sp>
        <p:nvSpPr>
          <p:cNvPr id="30" name="Text 28">
            <a:extLst>
              <a:ext uri="{FF2B5EF4-FFF2-40B4-BE49-F238E27FC236}">
                <a16:creationId xmlns:a16="http://schemas.microsoft.com/office/drawing/2014/main" id="{D4CFBEE3-7D6A-FEF0-9A07-7284FF322FB5}"/>
              </a:ext>
            </a:extLst>
          </p:cNvPr>
          <p:cNvSpPr/>
          <p:nvPr/>
        </p:nvSpPr>
        <p:spPr>
          <a:xfrm>
            <a:off x="5486400" y="2907792"/>
            <a:ext cx="3337560" cy="50292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Only 8.7% of Online leads use mobile devices. A mobile-optimized landing page could increase conversions.</a:t>
            </a:r>
            <a:endParaRPr lang="en-US" sz="1000" b="1" dirty="0">
              <a:solidFill>
                <a:schemeClr val="bg1"/>
              </a:solidFill>
            </a:endParaRPr>
          </a:p>
        </p:txBody>
      </p:sp>
      <p:sp>
        <p:nvSpPr>
          <p:cNvPr id="31" name="Shape 29">
            <a:extLst>
              <a:ext uri="{FF2B5EF4-FFF2-40B4-BE49-F238E27FC236}">
                <a16:creationId xmlns:a16="http://schemas.microsoft.com/office/drawing/2014/main" id="{570086AB-944E-ED8B-7049-82287D6696E1}"/>
              </a:ext>
            </a:extLst>
          </p:cNvPr>
          <p:cNvSpPr/>
          <p:nvPr/>
        </p:nvSpPr>
        <p:spPr>
          <a:xfrm>
            <a:off x="4892040" y="3657600"/>
            <a:ext cx="4023360" cy="914400"/>
          </a:xfrm>
          <a:prstGeom prst="rect">
            <a:avLst/>
          </a:prstGeom>
          <a:solidFill>
            <a:srgbClr val="1A2560"/>
          </a:solidFill>
          <a:ln w="12700">
            <a:solidFill>
              <a:srgbClr val="2A3570"/>
            </a:solidFill>
            <a:prstDash val="solid"/>
          </a:ln>
          <a:effectLst>
            <a:outerShdw blurRad="76200" dist="38100" dir="8100000" algn="bl" rotWithShape="0">
              <a:srgbClr val="000000">
                <a:alpha val="12000"/>
              </a:srgbClr>
            </a:outerShdw>
          </a:effectLst>
        </p:spPr>
      </p:sp>
      <p:sp>
        <p:nvSpPr>
          <p:cNvPr id="33" name="Text 31">
            <a:extLst>
              <a:ext uri="{FF2B5EF4-FFF2-40B4-BE49-F238E27FC236}">
                <a16:creationId xmlns:a16="http://schemas.microsoft.com/office/drawing/2014/main" id="{CEECD505-D2E3-9E39-963F-F88CF401E8F8}"/>
              </a:ext>
            </a:extLst>
          </p:cNvPr>
          <p:cNvSpPr/>
          <p:nvPr/>
        </p:nvSpPr>
        <p:spPr>
          <a:xfrm>
            <a:off x="4937760" y="3931920"/>
            <a:ext cx="411480" cy="36576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4" name="Text 32">
            <a:extLst>
              <a:ext uri="{FF2B5EF4-FFF2-40B4-BE49-F238E27FC236}">
                <a16:creationId xmlns:a16="http://schemas.microsoft.com/office/drawing/2014/main" id="{92BA864F-CB79-70B9-8951-5745AA516F54}"/>
              </a:ext>
            </a:extLst>
          </p:cNvPr>
          <p:cNvSpPr/>
          <p:nvPr/>
        </p:nvSpPr>
        <p:spPr>
          <a:xfrm>
            <a:off x="5463540" y="3694176"/>
            <a:ext cx="333756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Seasonal Strategy</a:t>
            </a:r>
            <a:endParaRPr lang="en-US" sz="1050" dirty="0"/>
          </a:p>
        </p:txBody>
      </p:sp>
      <p:sp>
        <p:nvSpPr>
          <p:cNvPr id="35" name="Text 33">
            <a:extLst>
              <a:ext uri="{FF2B5EF4-FFF2-40B4-BE49-F238E27FC236}">
                <a16:creationId xmlns:a16="http://schemas.microsoft.com/office/drawing/2014/main" id="{0EE0107C-5C3E-ABF9-E869-5948016195FA}"/>
              </a:ext>
            </a:extLst>
          </p:cNvPr>
          <p:cNvSpPr/>
          <p:nvPr/>
        </p:nvSpPr>
        <p:spPr>
          <a:xfrm>
            <a:off x="5486400" y="4005072"/>
            <a:ext cx="3337560" cy="50292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Lead volume peaks in May and drops sharply post-June. Plan admission campaigns earlier (Mar–Apr) to capture peak intent.</a:t>
            </a:r>
            <a:endParaRPr lang="en-US" sz="1000" b="1" dirty="0">
              <a:solidFill>
                <a:schemeClr val="bg1"/>
              </a:solidFill>
            </a:endParaRPr>
          </a:p>
        </p:txBody>
      </p:sp>
    </p:spTree>
    <p:extLst>
      <p:ext uri="{BB962C8B-B14F-4D97-AF65-F5344CB8AC3E}">
        <p14:creationId xmlns:p14="http://schemas.microsoft.com/office/powerpoint/2010/main" val="1932349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3930529" y="1359390"/>
            <a:ext cx="3791774" cy="994172"/>
          </a:xfrm>
        </p:spPr>
        <p:txBody>
          <a:bodyPr/>
          <a:lstStyle/>
          <a:p>
            <a:r>
              <a:rPr lang="en-US" b="1" dirty="0">
                <a:solidFill>
                  <a:schemeClr val="tx1"/>
                </a:solidFill>
                <a:latin typeface="Posterama Text SemiBold"/>
              </a:rPr>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4572000" y="2320493"/>
            <a:ext cx="3475653" cy="1409843"/>
          </a:xfrm>
        </p:spPr>
        <p:txBody>
          <a:bodyPr/>
          <a:lstStyle/>
          <a:p>
            <a:r>
              <a:rPr lang="en-US" dirty="0">
                <a:solidFill>
                  <a:schemeClr val="tx1"/>
                </a:solidFill>
              </a:rPr>
              <a:t>Vinay Pratap Vishwakarma</a:t>
            </a:r>
          </a:p>
          <a:p>
            <a:r>
              <a:rPr lang="en-US" dirty="0">
                <a:solidFill>
                  <a:schemeClr val="tx1"/>
                </a:solidFill>
                <a:hlinkClick r:id="rId6">
                  <a:extLst>
                    <a:ext uri="{A12FA001-AC4F-418D-AE19-62706E023703}">
                      <ahyp:hlinkClr xmlns:ahyp="http://schemas.microsoft.com/office/drawing/2018/hyperlinkcolor" val="tx"/>
                    </a:ext>
                  </a:extLst>
                </a:hlinkClick>
              </a:rPr>
              <a:t>pratapvinay365@gmail.com</a:t>
            </a:r>
            <a:endParaRPr lang="en-US" dirty="0">
              <a:solidFill>
                <a:schemeClr val="tx1"/>
              </a:solidFill>
            </a:endParaRPr>
          </a:p>
          <a:p>
            <a:r>
              <a:rPr lang="en-US" dirty="0">
                <a:solidFill>
                  <a:schemeClr val="tx1"/>
                </a:solidFill>
                <a:hlinkClick r:id="rId7">
                  <a:extLst>
                    <a:ext uri="{A12FA001-AC4F-418D-AE19-62706E023703}">
                      <ahyp:hlinkClr xmlns:ahyp="http://schemas.microsoft.com/office/drawing/2018/hyperlinkcolor" val="tx"/>
                    </a:ext>
                  </a:extLst>
                </a:hlinkClick>
              </a:rPr>
              <a:t>vinay-pratap-vishwakarma-955839375</a:t>
            </a:r>
            <a:endParaRPr lang="en-US" dirty="0">
              <a:solidFill>
                <a:schemeClr val="tx1"/>
              </a:solidFill>
            </a:endParaRPr>
          </a:p>
          <a:p>
            <a:r>
              <a:rPr lang="en-US" dirty="0">
                <a:solidFill>
                  <a:schemeClr val="tx1"/>
                </a:solidFill>
                <a:hlinkClick r:id="rId8">
                  <a:extLst>
                    <a:ext uri="{A12FA001-AC4F-418D-AE19-62706E023703}">
                      <ahyp:hlinkClr xmlns:ahyp="http://schemas.microsoft.com/office/drawing/2018/hyperlinkcolor" val="tx"/>
                    </a:ext>
                  </a:extLst>
                </a:hlinkClick>
              </a:rPr>
              <a:t>github.com/VinayPratap18</a:t>
            </a:r>
            <a:endParaRPr lang="en-US" dirty="0">
              <a:solidFill>
                <a:schemeClr val="tx1"/>
              </a:solidFill>
            </a:endParaRPr>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9"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864</Words>
  <Application>Microsoft Office PowerPoint</Application>
  <PresentationFormat>On-screen Show (16:9)</PresentationFormat>
  <Paragraphs>163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Arial Black</vt:lpstr>
      <vt:lpstr>Posterama Text SemiBold</vt:lpstr>
      <vt:lpstr>Office Theme</vt:lpstr>
      <vt:lpstr>Lead Dump Analysis_2</vt:lpstr>
      <vt:lpstr>PowerPoint Presentation</vt:lpstr>
      <vt:lpstr>Overview</vt:lpstr>
      <vt:lpstr>The institution faces lots of challenges like unstructured data, lacks of facing visibility in admission funnel and difficulty in identify the demographic drop offs and high performing Region.  This results in inefficient decision-making and missed opportunities for improving conversions. Although, we have to Give the problem Analysing Report to the Institution.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Lead Dump Analysis</dc:title>
  <dc:subject>PptxGenJS Presentation</dc:subject>
  <dc:creator>PptxGenJS</dc:creator>
  <cp:lastModifiedBy>Vinay Vishwakarma</cp:lastModifiedBy>
  <cp:revision>6</cp:revision>
  <dcterms:created xsi:type="dcterms:W3CDTF">2026-04-05T09:07:19Z</dcterms:created>
  <dcterms:modified xsi:type="dcterms:W3CDTF">2026-04-05T12:55:12Z</dcterms:modified>
</cp:coreProperties>
</file>